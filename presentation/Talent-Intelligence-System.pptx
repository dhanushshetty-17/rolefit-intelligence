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yne" panose="020B0604020202020204" charset="0"/>
      <p:regular r:id="rId13"/>
    </p:embeddedFont>
    <p:embeddedFont>
      <p:font typeface="Syne Bold" panose="020B0604020202020204" charset="0"/>
      <p:regular r:id="rId14"/>
    </p:embeddedFont>
    <p:embeddedFont>
      <p:font typeface="Syne Extra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71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svg"/><Relationship Id="rId12"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298303"/>
            <a:ext cx="6296860" cy="1033463"/>
          </a:xfrm>
          <a:prstGeom prst="rect">
            <a:avLst/>
          </a:prstGeom>
          <a:noFill/>
          <a:ln/>
        </p:spPr>
        <p:txBody>
          <a:bodyPr wrap="square" lIns="0" tIns="0" rIns="0" bIns="0" rtlCol="0" anchor="t">
            <a:normAutofit/>
          </a:bodyPr>
          <a:lstStyle/>
          <a:p>
            <a:pPr marL="0" indent="0" algn="ctr">
              <a:lnSpc>
                <a:spcPct val="104000"/>
              </a:lnSpc>
              <a:buNone/>
            </a:pPr>
            <a:r>
              <a:rPr lang="en-US" sz="3250" dirty="0">
                <a:solidFill>
                  <a:srgbClr val="F0F4F1"/>
                </a:solidFill>
                <a:latin typeface="Syne ExtraBold" pitchFamily="34" charset="0"/>
                <a:ea typeface="Syne ExtraBold" pitchFamily="34" charset="-122"/>
                <a:cs typeface="Syne ExtraBold" pitchFamily="34" charset="-120"/>
              </a:rPr>
              <a:t>Talent Intelligence System</a:t>
            </a:r>
            <a:endParaRPr lang="en-US" sz="3250" dirty="0"/>
          </a:p>
        </p:txBody>
      </p:sp>
      <p:sp>
        <p:nvSpPr>
          <p:cNvPr id="4" name="Text 1"/>
          <p:cNvSpPr/>
          <p:nvPr/>
        </p:nvSpPr>
        <p:spPr>
          <a:xfrm>
            <a:off x="5233360" y="3579813"/>
            <a:ext cx="6296860" cy="979884"/>
          </a:xfrm>
          <a:prstGeom prst="rect">
            <a:avLst/>
          </a:prstGeom>
          <a:noFill/>
          <a:ln/>
        </p:spPr>
        <p:txBody>
          <a:bodyPr wrap="square" lIns="0" tIns="0" rIns="0" bIns="0" rtlCol="0" anchor="t"/>
          <a:lstStyle/>
          <a:p>
            <a:pPr marL="0" indent="0" algn="ctr">
              <a:lnSpc>
                <a:spcPct val="133000"/>
              </a:lnSpc>
              <a:spcAft>
                <a:spcPts val="1450"/>
              </a:spcAft>
              <a:buNone/>
            </a:pPr>
            <a:r>
              <a:rPr lang="en-US" sz="1300" b="1" dirty="0">
                <a:solidFill>
                  <a:srgbClr val="D7E5D8"/>
                </a:solidFill>
                <a:latin typeface="Syne Bold" pitchFamily="34" charset="0"/>
                <a:ea typeface="Syne Bold" pitchFamily="34" charset="-122"/>
                <a:cs typeface="Syne Bold" pitchFamily="34" charset="-120"/>
              </a:rPr>
              <a:t>AI-Powered Candidate Ranking, Explained</a:t>
            </a:r>
            <a:endParaRPr lang="en-US" sz="1300" dirty="0"/>
          </a:p>
          <a:p>
            <a:pPr marL="0" indent="0" algn="ctr">
              <a:lnSpc>
                <a:spcPct val="133000"/>
              </a:lnSpc>
              <a:buNone/>
            </a:pPr>
            <a:r>
              <a:rPr lang="en-US" sz="1300" dirty="0">
                <a:solidFill>
                  <a:srgbClr val="D7E5D8"/>
                </a:solidFill>
                <a:latin typeface="Syne" pitchFamily="34" charset="0"/>
                <a:ea typeface="Syne" pitchFamily="34" charset="-122"/>
                <a:cs typeface="Syne" pitchFamily="34" charset="-120"/>
              </a:rPr>
              <a:t>From job description to ranked shortlist in minutes — built for recruiting teams who need speed without sacrificing trust.</a:t>
            </a:r>
            <a:endParaRPr lang="en-US" sz="1300" dirty="0"/>
          </a:p>
        </p:txBody>
      </p:sp>
      <p:pic>
        <p:nvPicPr>
          <p:cNvPr id="6" name="Picture 5">
            <a:extLst>
              <a:ext uri="{FF2B5EF4-FFF2-40B4-BE49-F238E27FC236}">
                <a16:creationId xmlns:a16="http://schemas.microsoft.com/office/drawing/2014/main" id="{BDB87DDB-D671-74E3-084E-2A93AB180612}"/>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879574"/>
            <a:ext cx="867646" cy="310952"/>
          </a:xfrm>
          <a:prstGeom prst="roundRect">
            <a:avLst>
              <a:gd name="adj" fmla="val 17871"/>
            </a:avLst>
          </a:prstGeom>
          <a:solidFill>
            <a:srgbClr val="334805"/>
          </a:solidFill>
          <a:ln/>
        </p:spPr>
      </p:sp>
      <p:sp>
        <p:nvSpPr>
          <p:cNvPr id="3" name="Text 1"/>
          <p:cNvSpPr/>
          <p:nvPr/>
        </p:nvSpPr>
        <p:spPr>
          <a:xfrm>
            <a:off x="760691" y="929184"/>
            <a:ext cx="1278798" cy="211733"/>
          </a:xfrm>
          <a:prstGeom prst="rect">
            <a:avLst/>
          </a:prstGeom>
          <a:noFill/>
          <a:ln/>
        </p:spPr>
        <p:txBody>
          <a:bodyPr wrap="none" lIns="0" tIns="0" rIns="0" bIns="0" rtlCol="0" anchor="t"/>
          <a:lstStyle/>
          <a:p>
            <a:pPr marL="0" indent="0" algn="l">
              <a:lnSpc>
                <a:spcPct val="133000"/>
              </a:lnSpc>
              <a:buNone/>
            </a:pPr>
            <a:r>
              <a:rPr lang="en-US" sz="1000" dirty="0">
                <a:solidFill>
                  <a:srgbClr val="D7E5D8"/>
                </a:solidFill>
                <a:latin typeface="Syne" pitchFamily="34" charset="0"/>
                <a:ea typeface="Syne" pitchFamily="34" charset="-122"/>
                <a:cs typeface="Syne" pitchFamily="34" charset="-120"/>
              </a:rPr>
              <a:t>OVERVIEW</a:t>
            </a:r>
            <a:endParaRPr lang="en-US" sz="1000" dirty="0"/>
          </a:p>
        </p:txBody>
      </p:sp>
      <p:sp>
        <p:nvSpPr>
          <p:cNvPr id="4" name="Text 2"/>
          <p:cNvSpPr/>
          <p:nvPr/>
        </p:nvSpPr>
        <p:spPr>
          <a:xfrm>
            <a:off x="661475" y="1256605"/>
            <a:ext cx="10868745" cy="826889"/>
          </a:xfrm>
          <a:prstGeom prst="rect">
            <a:avLst/>
          </a:prstGeom>
          <a:noFill/>
          <a:ln/>
        </p:spPr>
        <p:txBody>
          <a:bodyPr wrap="square" lIns="0" tIns="0" rIns="0" bIns="0" rtlCol="0" anchor="t">
            <a:normAutofit/>
          </a:bodyPr>
          <a:lstStyle/>
          <a:p>
            <a:pPr marL="0" indent="0" algn="l">
              <a:lnSpc>
                <a:spcPct val="104000"/>
              </a:lnSpc>
              <a:buNone/>
            </a:pPr>
            <a:r>
              <a:rPr lang="en-US" sz="2600" dirty="0">
                <a:solidFill>
                  <a:srgbClr val="F0F4F1"/>
                </a:solidFill>
                <a:latin typeface="Syne ExtraBold" pitchFamily="34" charset="0"/>
                <a:ea typeface="Syne ExtraBold" pitchFamily="34" charset="-122"/>
                <a:cs typeface="Syne ExtraBold" pitchFamily="34" charset="-120"/>
              </a:rPr>
              <a:t>From Job Description to Ranked Shortlist in Minutes</a:t>
            </a:r>
            <a:endParaRPr lang="en-US" sz="2600" dirty="0"/>
          </a:p>
        </p:txBody>
      </p:sp>
      <p:sp>
        <p:nvSpPr>
          <p:cNvPr id="5" name="Text 3"/>
          <p:cNvSpPr/>
          <p:nvPr/>
        </p:nvSpPr>
        <p:spPr>
          <a:xfrm>
            <a:off x="661475" y="2480370"/>
            <a:ext cx="5796214" cy="200114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The </a:t>
            </a:r>
            <a:r>
              <a:rPr lang="en-US" sz="1300" b="1" dirty="0">
                <a:solidFill>
                  <a:srgbClr val="D7E5D8"/>
                </a:solidFill>
                <a:latin typeface="Syne Bold" pitchFamily="34" charset="0"/>
                <a:ea typeface="Syne Bold" pitchFamily="34" charset="-122"/>
                <a:cs typeface="Syne Bold" pitchFamily="34" charset="-120"/>
              </a:rPr>
              <a:t>Talent Intelligence System</a:t>
            </a:r>
            <a:r>
              <a:rPr lang="en-US" sz="1300" dirty="0">
                <a:solidFill>
                  <a:srgbClr val="D7E5D8"/>
                </a:solidFill>
                <a:latin typeface="Syne" pitchFamily="34" charset="0"/>
                <a:ea typeface="Syne" pitchFamily="34" charset="-122"/>
                <a:cs typeface="Syne" pitchFamily="34" charset="-120"/>
              </a:rPr>
              <a:t> transforms how recruiting teams process high-volume candidate pools. Instead of relying on keyword filters or gut-feel shortlisting, the pipeline extracts structured intelligence from every job description and maps it against enriched candidate profiles using a multi-signal scoring engine.</a:t>
            </a:r>
            <a:endParaRPr lang="en-US" sz="1300" dirty="0"/>
          </a:p>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The result: a defensible, ranked shortlist — complete with signal-level transparency and recruiter-ready briefs — delivered in minutes, not days.</a:t>
            </a:r>
            <a:endParaRPr lang="en-US" sz="1300" dirty="0"/>
          </a:p>
        </p:txBody>
      </p:sp>
      <p:sp>
        <p:nvSpPr>
          <p:cNvPr id="6" name="Shape 4"/>
          <p:cNvSpPr/>
          <p:nvPr/>
        </p:nvSpPr>
        <p:spPr>
          <a:xfrm>
            <a:off x="6748393" y="2331541"/>
            <a:ext cx="4907137" cy="3646884"/>
          </a:xfrm>
          <a:prstGeom prst="roundRect">
            <a:avLst>
              <a:gd name="adj" fmla="val 3265"/>
            </a:avLst>
          </a:prstGeom>
          <a:solidFill>
            <a:srgbClr val="FAF9F4">
              <a:alpha val="95000"/>
            </a:srgbClr>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3687" y="2517577"/>
            <a:ext cx="2205578" cy="1554758"/>
          </a:xfrm>
          <a:prstGeom prst="rect">
            <a:avLst/>
          </a:prstGeom>
        </p:spPr>
      </p:pic>
      <p:sp>
        <p:nvSpPr>
          <p:cNvPr id="8" name="Text 5"/>
          <p:cNvSpPr/>
          <p:nvPr/>
        </p:nvSpPr>
        <p:spPr>
          <a:xfrm>
            <a:off x="7085331" y="2689225"/>
            <a:ext cx="1862289"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Syne ExtraBold" pitchFamily="34" charset="0"/>
                <a:ea typeface="Syne ExtraBold" pitchFamily="34" charset="-122"/>
                <a:cs typeface="Syne ExtraBold" pitchFamily="34" charset="-120"/>
              </a:rPr>
              <a:t>JobDNA</a:t>
            </a:r>
            <a:endParaRPr lang="en-US" sz="1600" dirty="0"/>
          </a:p>
        </p:txBody>
      </p:sp>
      <p:sp>
        <p:nvSpPr>
          <p:cNvPr id="9" name="Text 6"/>
          <p:cNvSpPr/>
          <p:nvPr/>
        </p:nvSpPr>
        <p:spPr>
          <a:xfrm>
            <a:off x="7085331" y="3112988"/>
            <a:ext cx="18622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Syne" pitchFamily="34" charset="0"/>
                <a:ea typeface="Syne" pitchFamily="34" charset="-122"/>
                <a:cs typeface="Syne" pitchFamily="34" charset="-120"/>
              </a:rPr>
              <a:t>Structured extraction from every JD</a:t>
            </a:r>
            <a:endParaRPr lang="en-US" sz="13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84559" y="2517577"/>
            <a:ext cx="2205677" cy="1554758"/>
          </a:xfrm>
          <a:prstGeom prst="rect">
            <a:avLst/>
          </a:prstGeom>
        </p:spPr>
      </p:pic>
      <p:sp>
        <p:nvSpPr>
          <p:cNvPr id="11" name="Text 7"/>
          <p:cNvSpPr/>
          <p:nvPr/>
        </p:nvSpPr>
        <p:spPr>
          <a:xfrm>
            <a:off x="9456203" y="2689225"/>
            <a:ext cx="1862389"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FFFF"/>
                </a:solidFill>
                <a:latin typeface="Syne ExtraBold" pitchFamily="34" charset="0"/>
                <a:ea typeface="Syne ExtraBold" pitchFamily="34" charset="-122"/>
                <a:cs typeface="Syne ExtraBold" pitchFamily="34" charset="-120"/>
              </a:rPr>
              <a:t>Multi-Signal</a:t>
            </a:r>
            <a:endParaRPr lang="en-US" sz="1600" dirty="0"/>
          </a:p>
        </p:txBody>
      </p:sp>
      <p:sp>
        <p:nvSpPr>
          <p:cNvPr id="12" name="Text 8"/>
          <p:cNvSpPr/>
          <p:nvPr/>
        </p:nvSpPr>
        <p:spPr>
          <a:xfrm>
            <a:off x="9456203" y="3371453"/>
            <a:ext cx="18623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Syne" pitchFamily="34" charset="0"/>
                <a:ea typeface="Syne" pitchFamily="34" charset="-122"/>
                <a:cs typeface="Syne" pitchFamily="34" charset="-120"/>
              </a:rPr>
              <a:t>Four weighted scoring layers</a:t>
            </a:r>
            <a:endParaRPr lang="en-US" sz="1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3687" y="4237633"/>
            <a:ext cx="2205578" cy="1554758"/>
          </a:xfrm>
          <a:prstGeom prst="rect">
            <a:avLst/>
          </a:prstGeom>
        </p:spPr>
      </p:pic>
      <p:sp>
        <p:nvSpPr>
          <p:cNvPr id="14" name="Text 9"/>
          <p:cNvSpPr/>
          <p:nvPr/>
        </p:nvSpPr>
        <p:spPr>
          <a:xfrm>
            <a:off x="7085331" y="4409281"/>
            <a:ext cx="1862289"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FFFF"/>
                </a:solidFill>
                <a:latin typeface="Syne ExtraBold" pitchFamily="34" charset="0"/>
                <a:ea typeface="Syne ExtraBold" pitchFamily="34" charset="-122"/>
                <a:cs typeface="Syne ExtraBold" pitchFamily="34" charset="-120"/>
              </a:rPr>
              <a:t>LLM Review</a:t>
            </a:r>
            <a:endParaRPr lang="en-US" sz="1600" dirty="0"/>
          </a:p>
        </p:txBody>
      </p:sp>
      <p:sp>
        <p:nvSpPr>
          <p:cNvPr id="15" name="Text 10"/>
          <p:cNvSpPr/>
          <p:nvPr/>
        </p:nvSpPr>
        <p:spPr>
          <a:xfrm>
            <a:off x="7085331" y="5091509"/>
            <a:ext cx="18622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Syne" pitchFamily="34" charset="0"/>
                <a:ea typeface="Syne" pitchFamily="34" charset="-122"/>
                <a:cs typeface="Syne" pitchFamily="34" charset="-120"/>
              </a:rPr>
              <a:t>Human-like judgment on top-N</a:t>
            </a:r>
            <a:endParaRPr lang="en-US" sz="13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84559" y="4237633"/>
            <a:ext cx="2205677" cy="1554758"/>
          </a:xfrm>
          <a:prstGeom prst="rect">
            <a:avLst/>
          </a:prstGeom>
        </p:spPr>
      </p:pic>
      <p:sp>
        <p:nvSpPr>
          <p:cNvPr id="17" name="Text 11"/>
          <p:cNvSpPr/>
          <p:nvPr/>
        </p:nvSpPr>
        <p:spPr>
          <a:xfrm>
            <a:off x="9456203" y="4409281"/>
            <a:ext cx="1862389"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FFFF"/>
                </a:solidFill>
                <a:latin typeface="Syne ExtraBold" pitchFamily="34" charset="0"/>
                <a:ea typeface="Syne ExtraBold" pitchFamily="34" charset="-122"/>
                <a:cs typeface="Syne ExtraBold" pitchFamily="34" charset="-120"/>
              </a:rPr>
              <a:t>Transparent</a:t>
            </a:r>
            <a:endParaRPr lang="en-US" sz="1600" dirty="0"/>
          </a:p>
        </p:txBody>
      </p:sp>
      <p:sp>
        <p:nvSpPr>
          <p:cNvPr id="18" name="Text 12"/>
          <p:cNvSpPr/>
          <p:nvPr/>
        </p:nvSpPr>
        <p:spPr>
          <a:xfrm>
            <a:off x="9456203" y="5091509"/>
            <a:ext cx="1862389" cy="264616"/>
          </a:xfrm>
          <a:prstGeom prst="rect">
            <a:avLst/>
          </a:prstGeom>
          <a:noFill/>
          <a:ln/>
        </p:spPr>
        <p:txBody>
          <a:bodyPr wrap="none" lIns="0" tIns="0" rIns="0" bIns="0" rtlCol="0" anchor="t"/>
          <a:lstStyle/>
          <a:p>
            <a:pPr marL="0" indent="0" algn="l">
              <a:lnSpc>
                <a:spcPct val="133000"/>
              </a:lnSpc>
              <a:buNone/>
            </a:pPr>
            <a:r>
              <a:rPr lang="en-US" sz="1300" dirty="0">
                <a:solidFill>
                  <a:srgbClr val="FFFFFF"/>
                </a:solidFill>
                <a:latin typeface="Syne" pitchFamily="34" charset="0"/>
                <a:ea typeface="Syne" pitchFamily="34" charset="-122"/>
                <a:cs typeface="Syne" pitchFamily="34" charset="-120"/>
              </a:rPr>
              <a:t>Every score is explainable</a:t>
            </a:r>
            <a:endParaRPr lang="en-US" sz="1300" dirty="0"/>
          </a:p>
        </p:txBody>
      </p:sp>
      <p:pic>
        <p:nvPicPr>
          <p:cNvPr id="19" name="Picture 18">
            <a:extLst>
              <a:ext uri="{FF2B5EF4-FFF2-40B4-BE49-F238E27FC236}">
                <a16:creationId xmlns:a16="http://schemas.microsoft.com/office/drawing/2014/main" id="{5EFADB95-12C4-2E21-4D4E-E32ED44BDA2C}"/>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931962"/>
            <a:ext cx="2732912" cy="258465"/>
          </a:xfrm>
          <a:prstGeom prst="rect">
            <a:avLst/>
          </a:prstGeom>
          <a:noFill/>
          <a:ln/>
        </p:spPr>
        <p:txBody>
          <a:bodyPr wrap="none" lIns="0" tIns="0" rIns="0" bIns="0" rtlCol="0" anchor="t"/>
          <a:lstStyle/>
          <a:p>
            <a:pPr marL="0" indent="0" algn="l">
              <a:lnSpc>
                <a:spcPct val="104000"/>
              </a:lnSpc>
              <a:buNone/>
            </a:pPr>
            <a:r>
              <a:rPr lang="en-US" sz="1600" dirty="0">
                <a:solidFill>
                  <a:srgbClr val="F0F4F1"/>
                </a:solidFill>
                <a:latin typeface="Syne ExtraBold" pitchFamily="34" charset="0"/>
                <a:ea typeface="Syne ExtraBold" pitchFamily="34" charset="-122"/>
                <a:cs typeface="Syne ExtraBold" pitchFamily="34" charset="-120"/>
              </a:rPr>
              <a:t>The Problem</a:t>
            </a:r>
            <a:endParaRPr lang="en-US" sz="1600" dirty="0"/>
          </a:p>
        </p:txBody>
      </p:sp>
      <p:sp>
        <p:nvSpPr>
          <p:cNvPr id="3" name="Text 1"/>
          <p:cNvSpPr/>
          <p:nvPr/>
        </p:nvSpPr>
        <p:spPr>
          <a:xfrm>
            <a:off x="661475" y="1256506"/>
            <a:ext cx="6274338" cy="413445"/>
          </a:xfrm>
          <a:prstGeom prst="rect">
            <a:avLst/>
          </a:prstGeom>
          <a:noFill/>
          <a:ln/>
        </p:spPr>
        <p:txBody>
          <a:bodyPr wrap="none" lIns="0" tIns="0" rIns="0" bIns="0" rtlCol="0" anchor="t"/>
          <a:lstStyle/>
          <a:p>
            <a:pPr marL="0" indent="0" algn="l">
              <a:lnSpc>
                <a:spcPct val="104000"/>
              </a:lnSpc>
              <a:buNone/>
            </a:pPr>
            <a:r>
              <a:rPr lang="en-US" sz="2600" dirty="0">
                <a:solidFill>
                  <a:srgbClr val="F0F4F1"/>
                </a:solidFill>
                <a:latin typeface="Syne ExtraBold" pitchFamily="34" charset="0"/>
                <a:ea typeface="Syne ExtraBold" pitchFamily="34" charset="-122"/>
                <a:cs typeface="Syne ExtraBold" pitchFamily="34" charset="-120"/>
              </a:rPr>
              <a:t>Hiring Breaks at Scale</a:t>
            </a:r>
            <a:endParaRPr lang="en-US" sz="2600" dirty="0"/>
          </a:p>
        </p:txBody>
      </p:sp>
      <p:sp>
        <p:nvSpPr>
          <p:cNvPr id="4" name="Shape 2"/>
          <p:cNvSpPr/>
          <p:nvPr/>
        </p:nvSpPr>
        <p:spPr>
          <a:xfrm>
            <a:off x="661475" y="1917998"/>
            <a:ext cx="10868745" cy="798810"/>
          </a:xfrm>
          <a:prstGeom prst="roundRect">
            <a:avLst>
              <a:gd name="adj" fmla="val 8696"/>
            </a:avLst>
          </a:prstGeom>
          <a:solidFill>
            <a:srgbClr val="152025">
              <a:alpha val="95000"/>
            </a:srgbClr>
          </a:solidFill>
          <a:ln w="19050">
            <a:solidFill>
              <a:srgbClr val="6D9121"/>
            </a:solidFill>
            <a:prstDash val="solid"/>
          </a:ln>
        </p:spPr>
      </p:sp>
      <p:pic>
        <p:nvPicPr>
          <p:cNvPr id="5" name="Image 0" descr="preencoded.png"/>
          <p:cNvPicPr>
            <a:picLocks noChangeAspect="1"/>
          </p:cNvPicPr>
          <p:nvPr/>
        </p:nvPicPr>
        <p:blipFill>
          <a:blip r:embed="rId3"/>
          <a:stretch>
            <a:fillRect/>
          </a:stretch>
        </p:blipFill>
        <p:spPr>
          <a:xfrm>
            <a:off x="581308" y="1837829"/>
            <a:ext cx="198433" cy="198438"/>
          </a:xfrm>
          <a:prstGeom prst="rect">
            <a:avLst/>
          </a:prstGeom>
        </p:spPr>
      </p:pic>
      <p:pic>
        <p:nvPicPr>
          <p:cNvPr id="6" name="Image 1" descr="preencoded.png"/>
          <p:cNvPicPr>
            <a:picLocks noChangeAspect="1"/>
          </p:cNvPicPr>
          <p:nvPr/>
        </p:nvPicPr>
        <p:blipFill>
          <a:blip r:embed="rId4"/>
          <a:stretch>
            <a:fillRect/>
          </a:stretch>
        </p:blipFill>
        <p:spPr>
          <a:xfrm>
            <a:off x="11411954" y="2598539"/>
            <a:ext cx="198433" cy="198438"/>
          </a:xfrm>
          <a:prstGeom prst="rect">
            <a:avLst/>
          </a:prstGeom>
        </p:spPr>
      </p:pic>
      <p:sp>
        <p:nvSpPr>
          <p:cNvPr id="7" name="Text 3"/>
          <p:cNvSpPr/>
          <p:nvPr/>
        </p:nvSpPr>
        <p:spPr>
          <a:xfrm>
            <a:off x="928565" y="2185095"/>
            <a:ext cx="10334565" cy="264616"/>
          </a:xfrm>
          <a:prstGeom prst="rect">
            <a:avLst/>
          </a:prstGeom>
          <a:noFill/>
          <a:ln/>
        </p:spPr>
        <p:txBody>
          <a:bodyPr wrap="none" lIns="0" tIns="0" rIns="0" bIns="0" rtlCol="0" anchor="t"/>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Hiring does not scale when candidate volume grows. What works for 200 applicants collapses at 20,000.</a:t>
            </a:r>
            <a:endParaRPr lang="en-US" sz="13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902843"/>
            <a:ext cx="3512653" cy="2307927"/>
          </a:xfrm>
          <a:prstGeom prst="rect">
            <a:avLst/>
          </a:prstGeom>
        </p:spPr>
      </p:pic>
      <p:sp>
        <p:nvSpPr>
          <p:cNvPr id="9" name="Text 4"/>
          <p:cNvSpPr/>
          <p:nvPr/>
        </p:nvSpPr>
        <p:spPr>
          <a:xfrm>
            <a:off x="922017" y="3087191"/>
            <a:ext cx="3067767"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Keyword Search Over-Ranks Noise</a:t>
            </a:r>
            <a:endParaRPr lang="en-US" sz="1600" dirty="0"/>
          </a:p>
        </p:txBody>
      </p:sp>
      <p:sp>
        <p:nvSpPr>
          <p:cNvPr id="10" name="Text 5"/>
          <p:cNvSpPr/>
          <p:nvPr/>
        </p:nvSpPr>
        <p:spPr>
          <a:xfrm>
            <a:off x="922017" y="3703340"/>
            <a:ext cx="3067767"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BM25-style matching surfaces keyword stuffers and irrelevant profiles that happen to share terminology, burying genuinely qualified candidates beneath false positives.</a:t>
            </a:r>
            <a:endParaRPr lang="en-US" sz="13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39422" y="2902843"/>
            <a:ext cx="3512752" cy="2307927"/>
          </a:xfrm>
          <a:prstGeom prst="rect">
            <a:avLst/>
          </a:prstGeom>
        </p:spPr>
      </p:pic>
      <p:sp>
        <p:nvSpPr>
          <p:cNvPr id="12" name="Text 6"/>
          <p:cNvSpPr/>
          <p:nvPr/>
        </p:nvSpPr>
        <p:spPr>
          <a:xfrm>
            <a:off x="4599964" y="3087191"/>
            <a:ext cx="3067866"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Embeddings Miss Hard Constraints</a:t>
            </a:r>
            <a:endParaRPr lang="en-US" sz="1600" dirty="0"/>
          </a:p>
        </p:txBody>
      </p:sp>
      <p:sp>
        <p:nvSpPr>
          <p:cNvPr id="13" name="Text 7"/>
          <p:cNvSpPr/>
          <p:nvPr/>
        </p:nvSpPr>
        <p:spPr>
          <a:xfrm>
            <a:off x="4599964" y="3703340"/>
            <a:ext cx="306786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Semantic similarity captures broad relevance but ignores dealbreakers — years of experience, certifications, location — leading to shortlists that fail on must-haves.</a:t>
            </a:r>
            <a:endParaRPr lang="en-US" sz="13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7468" y="2902843"/>
            <a:ext cx="3512653" cy="2307927"/>
          </a:xfrm>
          <a:prstGeom prst="rect">
            <a:avLst/>
          </a:prstGeom>
        </p:spPr>
      </p:pic>
      <p:sp>
        <p:nvSpPr>
          <p:cNvPr id="15" name="Text 8"/>
          <p:cNvSpPr/>
          <p:nvPr/>
        </p:nvSpPr>
        <p:spPr>
          <a:xfrm>
            <a:off x="8278010" y="3087191"/>
            <a:ext cx="3067767"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Manual Review Collapses</a:t>
            </a:r>
            <a:endParaRPr lang="en-US" sz="1600" dirty="0"/>
          </a:p>
        </p:txBody>
      </p:sp>
      <p:sp>
        <p:nvSpPr>
          <p:cNvPr id="16" name="Text 9"/>
          <p:cNvSpPr/>
          <p:nvPr/>
        </p:nvSpPr>
        <p:spPr>
          <a:xfrm>
            <a:off x="8278010" y="3703340"/>
            <a:ext cx="3067767"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Recruiters spending hours skimming unranked resumes cannot maintain quality at scale. The result: top talent slips through, and review fatigue sets in rapidly.</a:t>
            </a:r>
            <a:endParaRPr lang="en-US" sz="1300" dirty="0"/>
          </a:p>
        </p:txBody>
      </p:sp>
      <p:sp>
        <p:nvSpPr>
          <p:cNvPr id="17" name="Text 10"/>
          <p:cNvSpPr/>
          <p:nvPr/>
        </p:nvSpPr>
        <p:spPr>
          <a:xfrm>
            <a:off x="661475" y="5396805"/>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Recruiters need </a:t>
            </a:r>
            <a:r>
              <a:rPr lang="en-US" sz="1300" b="1" dirty="0">
                <a:solidFill>
                  <a:srgbClr val="1B5F39"/>
                </a:solidFill>
                <a:latin typeface="Syne Bold" pitchFamily="34" charset="0"/>
                <a:ea typeface="Syne Bold" pitchFamily="34" charset="-122"/>
                <a:cs typeface="Syne Bold" pitchFamily="34" charset="-120"/>
              </a:rPr>
              <a:t>ranked recommendations with reasons they can trust</a:t>
            </a:r>
            <a:r>
              <a:rPr lang="en-US" sz="1300" dirty="0">
                <a:solidFill>
                  <a:srgbClr val="D7E5D8"/>
                </a:solidFill>
                <a:latin typeface="Syne" pitchFamily="34" charset="0"/>
                <a:ea typeface="Syne" pitchFamily="34" charset="-122"/>
                <a:cs typeface="Syne" pitchFamily="34" charset="-120"/>
              </a:rPr>
              <a:t> — not another black-box tool that quietly filters out the wrong people.</a:t>
            </a:r>
            <a:endParaRPr lang="en-US" sz="1300" dirty="0"/>
          </a:p>
        </p:txBody>
      </p:sp>
      <p:pic>
        <p:nvPicPr>
          <p:cNvPr id="18" name="Picture 17">
            <a:extLst>
              <a:ext uri="{FF2B5EF4-FFF2-40B4-BE49-F238E27FC236}">
                <a16:creationId xmlns:a16="http://schemas.microsoft.com/office/drawing/2014/main" id="{5EA9A320-FC45-5AD5-FDE1-17482B69CD70}"/>
              </a:ext>
            </a:extLst>
          </p:cNvPr>
          <p:cNvPicPr>
            <a:picLocks noChangeAspect="1"/>
          </p:cNvPicPr>
          <p:nvPr/>
        </p:nvPicPr>
        <p:blipFill>
          <a:blip r:embed="rId6"/>
          <a:stretch>
            <a:fillRect/>
          </a:stretch>
        </p:blipFill>
        <p:spPr>
          <a:xfrm>
            <a:off x="10951050" y="6511671"/>
            <a:ext cx="1158340" cy="346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476052"/>
            <a:ext cx="682409" cy="157460"/>
          </a:xfrm>
          <a:prstGeom prst="roundRect">
            <a:avLst>
              <a:gd name="adj" fmla="val 20789"/>
            </a:avLst>
          </a:prstGeom>
          <a:solidFill>
            <a:srgbClr val="334805"/>
          </a:solidFill>
          <a:ln/>
        </p:spPr>
      </p:sp>
      <p:sp>
        <p:nvSpPr>
          <p:cNvPr id="3" name="Text 1"/>
          <p:cNvSpPr/>
          <p:nvPr/>
        </p:nvSpPr>
        <p:spPr>
          <a:xfrm>
            <a:off x="719913" y="505222"/>
            <a:ext cx="1175117" cy="99120"/>
          </a:xfrm>
          <a:prstGeom prst="rect">
            <a:avLst/>
          </a:prstGeom>
          <a:noFill/>
          <a:ln/>
        </p:spPr>
        <p:txBody>
          <a:bodyPr wrap="none" lIns="0" tIns="0" rIns="0" bIns="0" rtlCol="0" anchor="t"/>
          <a:lstStyle/>
          <a:p>
            <a:pPr marL="0" indent="0" algn="l">
              <a:lnSpc>
                <a:spcPct val="106000"/>
              </a:lnSpc>
              <a:buNone/>
            </a:pPr>
            <a:r>
              <a:rPr lang="en-US" sz="600" dirty="0">
                <a:solidFill>
                  <a:srgbClr val="D7E5D8"/>
                </a:solidFill>
                <a:latin typeface="Syne" pitchFamily="34" charset="0"/>
                <a:ea typeface="Syne" pitchFamily="34" charset="-122"/>
                <a:cs typeface="Syne" pitchFamily="34" charset="-120"/>
              </a:rPr>
              <a:t>ARCHITECTURE</a:t>
            </a:r>
            <a:endParaRPr lang="en-US" sz="600" dirty="0"/>
          </a:p>
        </p:txBody>
      </p:sp>
      <p:sp>
        <p:nvSpPr>
          <p:cNvPr id="4" name="Text 2"/>
          <p:cNvSpPr/>
          <p:nvPr/>
        </p:nvSpPr>
        <p:spPr>
          <a:xfrm>
            <a:off x="661475" y="656431"/>
            <a:ext cx="5706126" cy="243582"/>
          </a:xfrm>
          <a:prstGeom prst="rect">
            <a:avLst/>
          </a:prstGeom>
          <a:noFill/>
          <a:ln/>
        </p:spPr>
        <p:txBody>
          <a:bodyPr wrap="none" lIns="0" tIns="0" rIns="0" bIns="0" rtlCol="0" anchor="t"/>
          <a:lstStyle/>
          <a:p>
            <a:pPr marL="0" indent="0" algn="l">
              <a:lnSpc>
                <a:spcPct val="104000"/>
              </a:lnSpc>
              <a:buNone/>
            </a:pPr>
            <a:r>
              <a:rPr lang="en-US" sz="1500" dirty="0">
                <a:solidFill>
                  <a:srgbClr val="F0F4F1"/>
                </a:solidFill>
                <a:latin typeface="Syne ExtraBold" pitchFamily="34" charset="0"/>
                <a:ea typeface="Syne ExtraBold" pitchFamily="34" charset="-122"/>
                <a:cs typeface="Syne ExtraBold" pitchFamily="34" charset="-120"/>
              </a:rPr>
              <a:t>What I Built — A Six-Layer Pipeline</a:t>
            </a:r>
            <a:endParaRPr lang="en-US" sz="1500" dirty="0"/>
          </a:p>
        </p:txBody>
      </p:sp>
      <p:sp>
        <p:nvSpPr>
          <p:cNvPr id="5" name="Text 3"/>
          <p:cNvSpPr/>
          <p:nvPr/>
        </p:nvSpPr>
        <p:spPr>
          <a:xfrm>
            <a:off x="661475" y="986036"/>
            <a:ext cx="11478330" cy="123825"/>
          </a:xfrm>
          <a:prstGeom prst="rect">
            <a:avLst/>
          </a:prstGeom>
          <a:noFill/>
          <a:ln/>
        </p:spPr>
        <p:txBody>
          <a:bodyPr wrap="none" lIns="0" tIns="0" rIns="0" bIns="0" rtlCol="0" anchor="t"/>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Each layer addresses a specific failure mode in traditional candidate screening. Together, they form a pipeline that is greater than the sum of its parts.</a:t>
            </a:r>
            <a:endParaRPr lang="en-US" sz="750" dirty="0"/>
          </a:p>
        </p:txBody>
      </p:sp>
      <p:pic>
        <p:nvPicPr>
          <p:cNvPr id="6" name="Image 0" descr="preencoded.png"/>
          <p:cNvPicPr>
            <a:picLocks noChangeAspect="1"/>
          </p:cNvPicPr>
          <p:nvPr/>
        </p:nvPicPr>
        <p:blipFill>
          <a:blip r:embed="rId3"/>
          <a:stretch>
            <a:fillRect/>
          </a:stretch>
        </p:blipFill>
        <p:spPr>
          <a:xfrm>
            <a:off x="661475" y="1174353"/>
            <a:ext cx="1731125" cy="1731169"/>
          </a:xfrm>
          <a:prstGeom prst="rect">
            <a:avLst/>
          </a:prstGeom>
        </p:spPr>
      </p:pic>
      <p:sp>
        <p:nvSpPr>
          <p:cNvPr id="7" name="Text 4"/>
          <p:cNvSpPr/>
          <p:nvPr/>
        </p:nvSpPr>
        <p:spPr>
          <a:xfrm>
            <a:off x="661475" y="2962870"/>
            <a:ext cx="1893245" cy="152102"/>
          </a:xfrm>
          <a:prstGeom prst="rect">
            <a:avLst/>
          </a:prstGeom>
          <a:noFill/>
          <a:ln/>
        </p:spPr>
        <p:txBody>
          <a:bodyPr wrap="none" lIns="0" tIns="0" rIns="0" bIns="0" rtlCol="0" anchor="t"/>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JobDNA Extraction</a:t>
            </a:r>
            <a:endParaRPr lang="en-US" sz="950" dirty="0"/>
          </a:p>
        </p:txBody>
      </p:sp>
      <p:sp>
        <p:nvSpPr>
          <p:cNvPr id="8" name="Text 5"/>
          <p:cNvSpPr/>
          <p:nvPr/>
        </p:nvSpPr>
        <p:spPr>
          <a:xfrm>
            <a:off x="661475" y="3149402"/>
            <a:ext cx="2663361" cy="495300"/>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Parses the job description into a structured object — role, seniority, must-have skills, preferred skills, domain context, and dealbreakers — creating a machine-readable blueprint of what "great" looks like.</a:t>
            </a:r>
            <a:endParaRPr lang="en-US" sz="750" dirty="0"/>
          </a:p>
        </p:txBody>
      </p:sp>
      <p:pic>
        <p:nvPicPr>
          <p:cNvPr id="9" name="Image 1" descr="preencoded.png"/>
          <p:cNvPicPr>
            <a:picLocks noChangeAspect="1"/>
          </p:cNvPicPr>
          <p:nvPr/>
        </p:nvPicPr>
        <p:blipFill>
          <a:blip r:embed="rId4"/>
          <a:stretch>
            <a:fillRect/>
          </a:stretch>
        </p:blipFill>
        <p:spPr>
          <a:xfrm>
            <a:off x="3396570" y="1174353"/>
            <a:ext cx="1731125" cy="1731169"/>
          </a:xfrm>
          <a:prstGeom prst="rect">
            <a:avLst/>
          </a:prstGeom>
        </p:spPr>
      </p:pic>
      <p:sp>
        <p:nvSpPr>
          <p:cNvPr id="10" name="Text 6"/>
          <p:cNvSpPr/>
          <p:nvPr/>
        </p:nvSpPr>
        <p:spPr>
          <a:xfrm>
            <a:off x="3396570" y="2962870"/>
            <a:ext cx="2663361" cy="304205"/>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Candidate Profile Enrichment</a:t>
            </a:r>
            <a:endParaRPr lang="en-US" sz="950" dirty="0"/>
          </a:p>
        </p:txBody>
      </p:sp>
      <p:sp>
        <p:nvSpPr>
          <p:cNvPr id="11" name="Text 7"/>
          <p:cNvSpPr/>
          <p:nvPr/>
        </p:nvSpPr>
        <p:spPr>
          <a:xfrm>
            <a:off x="3396570" y="3301504"/>
            <a:ext cx="2663361" cy="495300"/>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Transforms raw resume data into recruiter-friendly signals: normalized skills, inferred seniority, career trajectory, and red-flag indicators — making every profile comparable on a level playing field.</a:t>
            </a:r>
            <a:endParaRPr lang="en-US" sz="750" dirty="0"/>
          </a:p>
        </p:txBody>
      </p:sp>
      <p:pic>
        <p:nvPicPr>
          <p:cNvPr id="12" name="Image 2" descr="preencoded.png"/>
          <p:cNvPicPr>
            <a:picLocks noChangeAspect="1"/>
          </p:cNvPicPr>
          <p:nvPr/>
        </p:nvPicPr>
        <p:blipFill>
          <a:blip r:embed="rId5"/>
          <a:stretch>
            <a:fillRect/>
          </a:stretch>
        </p:blipFill>
        <p:spPr>
          <a:xfrm>
            <a:off x="6131665" y="1174353"/>
            <a:ext cx="1731125" cy="1731169"/>
          </a:xfrm>
          <a:prstGeom prst="rect">
            <a:avLst/>
          </a:prstGeom>
        </p:spPr>
      </p:pic>
      <p:sp>
        <p:nvSpPr>
          <p:cNvPr id="13" name="Text 8"/>
          <p:cNvSpPr/>
          <p:nvPr/>
        </p:nvSpPr>
        <p:spPr>
          <a:xfrm>
            <a:off x="6131665" y="2962870"/>
            <a:ext cx="1874096" cy="152102"/>
          </a:xfrm>
          <a:prstGeom prst="rect">
            <a:avLst/>
          </a:prstGeom>
          <a:noFill/>
          <a:ln/>
        </p:spPr>
        <p:txBody>
          <a:bodyPr wrap="none" lIns="0" tIns="0" rIns="0" bIns="0" rtlCol="0" anchor="t"/>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Semantic Similarity</a:t>
            </a:r>
            <a:endParaRPr lang="en-US" sz="950" dirty="0"/>
          </a:p>
        </p:txBody>
      </p:sp>
      <p:sp>
        <p:nvSpPr>
          <p:cNvPr id="14" name="Text 9"/>
          <p:cNvSpPr/>
          <p:nvPr/>
        </p:nvSpPr>
        <p:spPr>
          <a:xfrm>
            <a:off x="6131665" y="3149402"/>
            <a:ext cx="2663361" cy="371475"/>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Uses embedding-based matching to capture broad relevance — surfacing candidates whose experience aligns conceptually even when exact keywords differ.</a:t>
            </a:r>
            <a:endParaRPr lang="en-US" sz="750" dirty="0"/>
          </a:p>
        </p:txBody>
      </p:sp>
      <p:pic>
        <p:nvPicPr>
          <p:cNvPr id="15" name="Image 3" descr="preencoded.png"/>
          <p:cNvPicPr>
            <a:picLocks noChangeAspect="1"/>
          </p:cNvPicPr>
          <p:nvPr/>
        </p:nvPicPr>
        <p:blipFill>
          <a:blip r:embed="rId6"/>
          <a:stretch>
            <a:fillRect/>
          </a:stretch>
        </p:blipFill>
        <p:spPr>
          <a:xfrm>
            <a:off x="8866759" y="1174353"/>
            <a:ext cx="1731225" cy="1731268"/>
          </a:xfrm>
          <a:prstGeom prst="rect">
            <a:avLst/>
          </a:prstGeom>
        </p:spPr>
      </p:pic>
      <p:sp>
        <p:nvSpPr>
          <p:cNvPr id="16" name="Text 10"/>
          <p:cNvSpPr/>
          <p:nvPr/>
        </p:nvSpPr>
        <p:spPr>
          <a:xfrm>
            <a:off x="8866759" y="2962970"/>
            <a:ext cx="2545195" cy="152102"/>
          </a:xfrm>
          <a:prstGeom prst="rect">
            <a:avLst/>
          </a:prstGeom>
          <a:noFill/>
          <a:ln/>
        </p:spPr>
        <p:txBody>
          <a:bodyPr wrap="none" lIns="0" tIns="0" rIns="0" bIns="0" rtlCol="0" anchor="t"/>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Hard-Constraint Matching</a:t>
            </a:r>
            <a:endParaRPr lang="en-US" sz="950" dirty="0"/>
          </a:p>
        </p:txBody>
      </p:sp>
      <p:sp>
        <p:nvSpPr>
          <p:cNvPr id="17" name="Text 11"/>
          <p:cNvSpPr/>
          <p:nvPr/>
        </p:nvSpPr>
        <p:spPr>
          <a:xfrm>
            <a:off x="8866759" y="3149501"/>
            <a:ext cx="2663461" cy="495300"/>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Applies strict Boolean-style filtering on must-have requirements — certifications, years of experience, location, work authorization — ensuring no shortlisted candidate fails on dealbreakers.</a:t>
            </a:r>
            <a:endParaRPr lang="en-US" sz="750" dirty="0"/>
          </a:p>
        </p:txBody>
      </p:sp>
      <p:pic>
        <p:nvPicPr>
          <p:cNvPr id="18" name="Image 4" descr="preencoded.png"/>
          <p:cNvPicPr>
            <a:picLocks noChangeAspect="1"/>
          </p:cNvPicPr>
          <p:nvPr/>
        </p:nvPicPr>
        <p:blipFill>
          <a:blip r:embed="rId7"/>
          <a:stretch>
            <a:fillRect/>
          </a:stretch>
        </p:blipFill>
        <p:spPr>
          <a:xfrm>
            <a:off x="661475" y="3911501"/>
            <a:ext cx="1731125" cy="1731169"/>
          </a:xfrm>
          <a:prstGeom prst="rect">
            <a:avLst/>
          </a:prstGeom>
        </p:spPr>
      </p:pic>
      <p:sp>
        <p:nvSpPr>
          <p:cNvPr id="19" name="Text 12"/>
          <p:cNvSpPr/>
          <p:nvPr/>
        </p:nvSpPr>
        <p:spPr>
          <a:xfrm>
            <a:off x="661475" y="5700018"/>
            <a:ext cx="1474155" cy="152102"/>
          </a:xfrm>
          <a:prstGeom prst="rect">
            <a:avLst/>
          </a:prstGeom>
          <a:noFill/>
          <a:ln/>
        </p:spPr>
        <p:txBody>
          <a:bodyPr wrap="none" lIns="0" tIns="0" rIns="0" bIns="0" rtlCol="0" anchor="t"/>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LLM Judgment</a:t>
            </a:r>
            <a:endParaRPr lang="en-US" sz="950" dirty="0"/>
          </a:p>
        </p:txBody>
      </p:sp>
      <p:sp>
        <p:nvSpPr>
          <p:cNvPr id="20" name="Text 13"/>
          <p:cNvSpPr/>
          <p:nvPr/>
        </p:nvSpPr>
        <p:spPr>
          <a:xfrm>
            <a:off x="661475" y="5886549"/>
            <a:ext cx="2663361" cy="371475"/>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For top candidates only, an LLM applies human-like reasoning — evaluating fit nuances that signals alone cannot capture. Run only on the shortlisted set to control cost and latency.</a:t>
            </a:r>
            <a:endParaRPr lang="en-US" sz="750" dirty="0"/>
          </a:p>
        </p:txBody>
      </p:sp>
      <p:pic>
        <p:nvPicPr>
          <p:cNvPr id="21" name="Image 5" descr="preencoded.png"/>
          <p:cNvPicPr>
            <a:picLocks noChangeAspect="1"/>
          </p:cNvPicPr>
          <p:nvPr/>
        </p:nvPicPr>
        <p:blipFill>
          <a:blip r:embed="rId8"/>
          <a:stretch>
            <a:fillRect/>
          </a:stretch>
        </p:blipFill>
        <p:spPr>
          <a:xfrm>
            <a:off x="3396570" y="3911501"/>
            <a:ext cx="1731125" cy="1731169"/>
          </a:xfrm>
          <a:prstGeom prst="rect">
            <a:avLst/>
          </a:prstGeom>
        </p:spPr>
      </p:pic>
      <p:sp>
        <p:nvSpPr>
          <p:cNvPr id="22" name="Text 14"/>
          <p:cNvSpPr/>
          <p:nvPr/>
        </p:nvSpPr>
        <p:spPr>
          <a:xfrm>
            <a:off x="3396570" y="5700018"/>
            <a:ext cx="2194565" cy="152102"/>
          </a:xfrm>
          <a:prstGeom prst="rect">
            <a:avLst/>
          </a:prstGeom>
          <a:noFill/>
          <a:ln/>
        </p:spPr>
        <p:txBody>
          <a:bodyPr wrap="none" lIns="0" tIns="0" rIns="0" bIns="0" rtlCol="0" anchor="t"/>
          <a:lstStyle/>
          <a:p>
            <a:pPr marL="0" indent="0" algn="l">
              <a:lnSpc>
                <a:spcPct val="104000"/>
              </a:lnSpc>
              <a:buNone/>
            </a:pPr>
            <a:r>
              <a:rPr lang="en-US" sz="950" dirty="0">
                <a:solidFill>
                  <a:srgbClr val="D7E5D8"/>
                </a:solidFill>
                <a:latin typeface="Syne ExtraBold" pitchFamily="34" charset="0"/>
                <a:ea typeface="Syne ExtraBold" pitchFamily="34" charset="-122"/>
                <a:cs typeface="Syne ExtraBold" pitchFamily="34" charset="-120"/>
              </a:rPr>
              <a:t>Trajectory &amp; Red Flags</a:t>
            </a:r>
            <a:endParaRPr lang="en-US" sz="950" dirty="0"/>
          </a:p>
        </p:txBody>
      </p:sp>
      <p:sp>
        <p:nvSpPr>
          <p:cNvPr id="23" name="Text 15"/>
          <p:cNvSpPr/>
          <p:nvPr/>
        </p:nvSpPr>
        <p:spPr>
          <a:xfrm>
            <a:off x="3396570" y="5886549"/>
            <a:ext cx="2663361" cy="495300"/>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D7E5D8"/>
                </a:solidFill>
                <a:latin typeface="Syne" pitchFamily="34" charset="0"/>
                <a:ea typeface="Syne" pitchFamily="34" charset="-122"/>
                <a:cs typeface="Syne" pitchFamily="34" charset="-120"/>
              </a:rPr>
              <a:t>Rewards upward career momentum while penalizing weak signals: frequent role changes, employment gaps, declining seniority, and missing critical context. A quality-control layer that adds depth to the score.</a:t>
            </a:r>
            <a:endParaRPr lang="en-US" sz="750" dirty="0"/>
          </a:p>
        </p:txBody>
      </p:sp>
      <p:pic>
        <p:nvPicPr>
          <p:cNvPr id="24" name="Picture 23">
            <a:extLst>
              <a:ext uri="{FF2B5EF4-FFF2-40B4-BE49-F238E27FC236}">
                <a16:creationId xmlns:a16="http://schemas.microsoft.com/office/drawing/2014/main" id="{4F5FF00B-124C-730A-00CC-28A96A339422}"/>
              </a:ext>
            </a:extLst>
          </p:cNvPr>
          <p:cNvPicPr>
            <a:picLocks noChangeAspect="1"/>
          </p:cNvPicPr>
          <p:nvPr/>
        </p:nvPicPr>
        <p:blipFill>
          <a:blip r:embed="rId9"/>
          <a:stretch>
            <a:fillRect/>
          </a:stretch>
        </p:blipFill>
        <p:spPr>
          <a:xfrm>
            <a:off x="10951050" y="6511671"/>
            <a:ext cx="1158340" cy="3463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08806"/>
            <a:ext cx="2564641" cy="167878"/>
          </a:xfrm>
          <a:prstGeom prst="rect">
            <a:avLst/>
          </a:prstGeom>
          <a:noFill/>
          <a:ln/>
        </p:spPr>
        <p:txBody>
          <a:bodyPr wrap="none" lIns="0" tIns="0" rIns="0" bIns="0" rtlCol="0" anchor="t"/>
          <a:lstStyle/>
          <a:p>
            <a:pPr marL="0" indent="0" algn="l">
              <a:lnSpc>
                <a:spcPct val="104000"/>
              </a:lnSpc>
              <a:buNone/>
            </a:pPr>
            <a:r>
              <a:rPr lang="en-US" sz="1050" dirty="0">
                <a:solidFill>
                  <a:srgbClr val="F0F4F1"/>
                </a:solidFill>
                <a:latin typeface="Syne ExtraBold" pitchFamily="34" charset="0"/>
                <a:ea typeface="Syne ExtraBold" pitchFamily="34" charset="-122"/>
                <a:cs typeface="Syne ExtraBold" pitchFamily="34" charset="-120"/>
              </a:rPr>
              <a:t>Design Philosophy</a:t>
            </a:r>
            <a:endParaRPr lang="en-US" sz="1050" dirty="0"/>
          </a:p>
        </p:txBody>
      </p:sp>
      <p:sp>
        <p:nvSpPr>
          <p:cNvPr id="3" name="Text 1"/>
          <p:cNvSpPr/>
          <p:nvPr/>
        </p:nvSpPr>
        <p:spPr>
          <a:xfrm>
            <a:off x="661475" y="804565"/>
            <a:ext cx="8898211" cy="268684"/>
          </a:xfrm>
          <a:prstGeom prst="rect">
            <a:avLst/>
          </a:prstGeom>
          <a:noFill/>
          <a:ln/>
        </p:spPr>
        <p:txBody>
          <a:bodyPr wrap="none" lIns="0" tIns="0" rIns="0" bIns="0" rtlCol="0" anchor="t"/>
          <a:lstStyle/>
          <a:p>
            <a:pPr marL="0" indent="0" algn="l">
              <a:lnSpc>
                <a:spcPct val="104000"/>
              </a:lnSpc>
              <a:buNone/>
            </a:pPr>
            <a:r>
              <a:rPr lang="en-US" sz="1650" dirty="0">
                <a:solidFill>
                  <a:srgbClr val="F0F4F1"/>
                </a:solidFill>
                <a:latin typeface="Syne ExtraBold" pitchFamily="34" charset="0"/>
                <a:ea typeface="Syne ExtraBold" pitchFamily="34" charset="-122"/>
                <a:cs typeface="Syne ExtraBold" pitchFamily="34" charset="-120"/>
              </a:rPr>
              <a:t>Why This Design — No Single Signal Trusted Alone</a:t>
            </a:r>
            <a:endParaRPr lang="en-US" sz="1650" dirty="0"/>
          </a:p>
        </p:txBody>
      </p:sp>
      <p:sp>
        <p:nvSpPr>
          <p:cNvPr id="4" name="Shape 2"/>
          <p:cNvSpPr/>
          <p:nvPr/>
        </p:nvSpPr>
        <p:spPr>
          <a:xfrm>
            <a:off x="584086" y="1178024"/>
            <a:ext cx="4567520" cy="5071070"/>
          </a:xfrm>
          <a:prstGeom prst="roundRect">
            <a:avLst>
              <a:gd name="adj" fmla="val 1695"/>
            </a:avLst>
          </a:prstGeom>
          <a:solidFill>
            <a:srgbClr val="FAF9F4">
              <a:alpha val="95000"/>
            </a:srgbClr>
          </a:solidFill>
          <a:ln/>
        </p:spPr>
      </p:sp>
      <p:sp>
        <p:nvSpPr>
          <p:cNvPr id="5" name="Text 3"/>
          <p:cNvSpPr/>
          <p:nvPr/>
        </p:nvSpPr>
        <p:spPr>
          <a:xfrm>
            <a:off x="691537" y="1240830"/>
            <a:ext cx="4352618" cy="1118791"/>
          </a:xfrm>
          <a:prstGeom prst="rect">
            <a:avLst/>
          </a:prstGeom>
          <a:noFill/>
          <a:ln/>
        </p:spPr>
        <p:txBody>
          <a:bodyPr wrap="square" lIns="0" tIns="0" rIns="0" bIns="0" rtlCol="0" anchor="t">
            <a:normAutofit/>
          </a:bodyPr>
          <a:lstStyle/>
          <a:p>
            <a:pPr marL="0" indent="0" algn="l">
              <a:lnSpc>
                <a:spcPct val="110000"/>
              </a:lnSpc>
              <a:buNone/>
            </a:pPr>
            <a:r>
              <a:rPr lang="en-US" sz="800" dirty="0">
                <a:solidFill>
                  <a:srgbClr val="000000"/>
                </a:solidFill>
                <a:latin typeface="Syne" pitchFamily="34" charset="0"/>
                <a:ea typeface="Syne" pitchFamily="34" charset="-122"/>
                <a:cs typeface="Syne" pitchFamily="34" charset="-120"/>
              </a:rPr>
              <a:t>The core insight: </a:t>
            </a:r>
            <a:r>
              <a:rPr lang="en-US" sz="800" b="1" dirty="0">
                <a:solidFill>
                  <a:srgbClr val="000000"/>
                </a:solidFill>
                <a:latin typeface="Syne Bold" pitchFamily="34" charset="0"/>
                <a:ea typeface="Syne Bold" pitchFamily="34" charset="-122"/>
                <a:cs typeface="Syne Bold" pitchFamily="34" charset="-120"/>
              </a:rPr>
              <a:t>no single ranking signal is sufficient on its own</a:t>
            </a:r>
            <a:r>
              <a:rPr lang="en-US" sz="800" dirty="0">
                <a:solidFill>
                  <a:srgbClr val="000000"/>
                </a:solidFill>
                <a:latin typeface="Syne" pitchFamily="34" charset="0"/>
                <a:ea typeface="Syne" pitchFamily="34" charset="-122"/>
                <a:cs typeface="Syne" pitchFamily="34" charset="-120"/>
              </a:rPr>
              <a:t>. Each layer compensates for another's blind spots.</a:t>
            </a:r>
            <a:endParaRPr lang="en-US" sz="800" dirty="0"/>
          </a:p>
          <a:p>
            <a:pPr marL="0" indent="0" algn="l">
              <a:lnSpc>
                <a:spcPct val="110000"/>
              </a:lnSpc>
              <a:spcAft>
                <a:spcPts val="450"/>
              </a:spcAft>
              <a:buNone/>
            </a:pPr>
            <a:r>
              <a:rPr lang="en-US" sz="800" dirty="0">
                <a:solidFill>
                  <a:srgbClr val="000000"/>
                </a:solidFill>
                <a:latin typeface="Syne" pitchFamily="34" charset="0"/>
                <a:ea typeface="Syne" pitchFamily="34" charset="-122"/>
                <a:cs typeface="Syne" pitchFamily="34" charset="-120"/>
              </a:rPr>
              <a:t>Semantic similarity finds relevant profiles but misses hard constraints. BM25 enforces dealbreakers but cannot assess fit nuance. The LLM adds judgment but is too expensive for full-pool scoring. The trajectory layer adds qualitative depth that quantitative signals cannot.</a:t>
            </a:r>
            <a:endParaRPr lang="en-US" sz="800" dirty="0"/>
          </a:p>
          <a:p>
            <a:pPr marL="0" indent="0" algn="l">
              <a:lnSpc>
                <a:spcPct val="110000"/>
              </a:lnSpc>
              <a:buNone/>
            </a:pPr>
            <a:r>
              <a:rPr lang="en-US" sz="800" dirty="0">
                <a:solidFill>
                  <a:srgbClr val="000000"/>
                </a:solidFill>
                <a:latin typeface="Syne" pitchFamily="34" charset="0"/>
                <a:ea typeface="Syne" pitchFamily="34" charset="-122"/>
                <a:cs typeface="Syne" pitchFamily="34" charset="-120"/>
              </a:rPr>
              <a:t>Layered together, the pipeline remains </a:t>
            </a:r>
            <a:r>
              <a:rPr lang="en-US" sz="800" b="1" dirty="0">
                <a:solidFill>
                  <a:srgbClr val="1B5F39"/>
                </a:solidFill>
                <a:latin typeface="Syne Bold" pitchFamily="34" charset="0"/>
                <a:ea typeface="Syne Bold" pitchFamily="34" charset="-122"/>
                <a:cs typeface="Syne Bold" pitchFamily="34" charset="-120"/>
              </a:rPr>
              <a:t>explainable, affordable, and scalable</a:t>
            </a:r>
            <a:r>
              <a:rPr lang="en-US" sz="800" dirty="0">
                <a:solidFill>
                  <a:srgbClr val="000000"/>
                </a:solidFill>
                <a:latin typeface="Syne" pitchFamily="34" charset="0"/>
                <a:ea typeface="Syne" pitchFamily="34" charset="-122"/>
                <a:cs typeface="Syne" pitchFamily="34" charset="-120"/>
              </a:rPr>
              <a:t> — without sacrificing the quality of the final shortlist.</a:t>
            </a:r>
            <a:endParaRPr lang="en-US" sz="800" dirty="0"/>
          </a:p>
        </p:txBody>
      </p:sp>
      <p:pic>
        <p:nvPicPr>
          <p:cNvPr id="6" name="Image 0" descr="preencoded.png"/>
          <p:cNvPicPr>
            <a:picLocks noChangeAspect="1"/>
          </p:cNvPicPr>
          <p:nvPr/>
        </p:nvPicPr>
        <p:blipFill>
          <a:blip r:embed="rId3"/>
          <a:stretch>
            <a:fillRect/>
          </a:stretch>
        </p:blipFill>
        <p:spPr>
          <a:xfrm>
            <a:off x="6829155" y="1256605"/>
            <a:ext cx="3220758" cy="3220839"/>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1775" y="2786559"/>
            <a:ext cx="160830" cy="160834"/>
          </a:xfrm>
          <a:prstGeom prst="rect">
            <a:avLst/>
          </a:prstGeom>
        </p:spPr>
      </p:pic>
      <p:sp>
        <p:nvSpPr>
          <p:cNvPr id="8" name="Shape 4"/>
          <p:cNvSpPr/>
          <p:nvPr/>
        </p:nvSpPr>
        <p:spPr>
          <a:xfrm>
            <a:off x="5342697" y="4638675"/>
            <a:ext cx="215002" cy="215007"/>
          </a:xfrm>
          <a:prstGeom prst="roundRect">
            <a:avLst>
              <a:gd name="adj" fmla="val 21001"/>
            </a:avLst>
          </a:prstGeom>
          <a:solidFill>
            <a:srgbClr val="547808"/>
          </a:solidFill>
          <a:ln w="6350">
            <a:solidFill>
              <a:srgbClr val="6D9121"/>
            </a:solidFill>
            <a:prstDash val="solid"/>
          </a:ln>
        </p:spPr>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2979" y="4678908"/>
            <a:ext cx="134339" cy="134342"/>
          </a:xfrm>
          <a:prstGeom prst="rect">
            <a:avLst/>
          </a:prstGeom>
        </p:spPr>
      </p:pic>
      <p:sp>
        <p:nvSpPr>
          <p:cNvPr id="10" name="Text 5"/>
          <p:cNvSpPr/>
          <p:nvPr/>
        </p:nvSpPr>
        <p:spPr>
          <a:xfrm>
            <a:off x="5627547" y="4662190"/>
            <a:ext cx="1343785" cy="167878"/>
          </a:xfrm>
          <a:prstGeom prst="rect">
            <a:avLst/>
          </a:prstGeom>
          <a:noFill/>
          <a:ln/>
        </p:spPr>
        <p:txBody>
          <a:bodyPr wrap="none" lIns="0" tIns="0" rIns="0" bIns="0" rtlCol="0" anchor="t"/>
          <a:lstStyle/>
          <a:p>
            <a:pPr marL="0" indent="0" algn="l">
              <a:lnSpc>
                <a:spcPct val="104000"/>
              </a:lnSpc>
              <a:buNone/>
            </a:pPr>
            <a:r>
              <a:rPr lang="en-US" sz="1050" dirty="0">
                <a:solidFill>
                  <a:srgbClr val="D7E5D8"/>
                </a:solidFill>
                <a:latin typeface="Syne ExtraBold" pitchFamily="34" charset="0"/>
                <a:ea typeface="Syne ExtraBold" pitchFamily="34" charset="-122"/>
                <a:cs typeface="Syne ExtraBold" pitchFamily="34" charset="-120"/>
              </a:rPr>
              <a:t>Explainable</a:t>
            </a:r>
            <a:endParaRPr lang="en-US" sz="1050" dirty="0"/>
          </a:p>
        </p:txBody>
      </p:sp>
      <p:sp>
        <p:nvSpPr>
          <p:cNvPr id="11" name="Text 6"/>
          <p:cNvSpPr/>
          <p:nvPr/>
        </p:nvSpPr>
        <p:spPr>
          <a:xfrm>
            <a:off x="5627547" y="4899918"/>
            <a:ext cx="5908924" cy="141883"/>
          </a:xfrm>
          <a:prstGeom prst="rect">
            <a:avLst/>
          </a:prstGeom>
          <a:noFill/>
          <a:ln/>
        </p:spPr>
        <p:txBody>
          <a:bodyPr wrap="none" lIns="0" tIns="0" rIns="0" bIns="0" rtlCol="0" anchor="t"/>
          <a:lstStyle/>
          <a:p>
            <a:pPr marL="0" indent="0" algn="l">
              <a:lnSpc>
                <a:spcPct val="110000"/>
              </a:lnSpc>
              <a:buNone/>
            </a:pPr>
            <a:r>
              <a:rPr lang="en-US" sz="800" dirty="0">
                <a:solidFill>
                  <a:srgbClr val="D7E5D8"/>
                </a:solidFill>
                <a:latin typeface="Syne" pitchFamily="34" charset="0"/>
                <a:ea typeface="Syne" pitchFamily="34" charset="-122"/>
                <a:cs typeface="Syne" pitchFamily="34" charset="-120"/>
              </a:rPr>
              <a:t>Every score decomposite into transparent, auditable signal components</a:t>
            </a:r>
            <a:endParaRPr lang="en-US" sz="800" dirty="0"/>
          </a:p>
        </p:txBody>
      </p:sp>
      <p:pic>
        <p:nvPicPr>
          <p:cNvPr id="12" name="Image 3" descr="preencoded.png"/>
          <p:cNvPicPr>
            <a:picLocks noChangeAspect="1"/>
          </p:cNvPicPr>
          <p:nvPr/>
        </p:nvPicPr>
        <p:blipFill>
          <a:blip r:embed="rId6"/>
          <a:stretch>
            <a:fillRect/>
          </a:stretch>
        </p:blipFill>
        <p:spPr>
          <a:xfrm>
            <a:off x="6829155" y="1256605"/>
            <a:ext cx="3220758" cy="3220839"/>
          </a:xfrm>
          <a:prstGeom prst="rect">
            <a:avLst/>
          </a:prstGeom>
        </p:spPr>
      </p:pic>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22618" y="1810246"/>
            <a:ext cx="160830" cy="160834"/>
          </a:xfrm>
          <a:prstGeom prst="rect">
            <a:avLst/>
          </a:prstGeom>
        </p:spPr>
      </p:pic>
      <p:sp>
        <p:nvSpPr>
          <p:cNvPr id="14" name="Shape 7"/>
          <p:cNvSpPr/>
          <p:nvPr/>
        </p:nvSpPr>
        <p:spPr>
          <a:xfrm>
            <a:off x="5342697" y="5203031"/>
            <a:ext cx="215002" cy="215007"/>
          </a:xfrm>
          <a:prstGeom prst="roundRect">
            <a:avLst>
              <a:gd name="adj" fmla="val 21001"/>
            </a:avLst>
          </a:prstGeom>
          <a:solidFill>
            <a:srgbClr val="547808"/>
          </a:solidFill>
          <a:ln w="6350">
            <a:solidFill>
              <a:srgbClr val="6D9121"/>
            </a:solidFill>
            <a:prstDash val="solid"/>
          </a:ln>
        </p:spPr>
      </p:sp>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82979" y="5243264"/>
            <a:ext cx="134339" cy="134342"/>
          </a:xfrm>
          <a:prstGeom prst="rect">
            <a:avLst/>
          </a:prstGeom>
        </p:spPr>
      </p:pic>
      <p:sp>
        <p:nvSpPr>
          <p:cNvPr id="16" name="Text 8"/>
          <p:cNvSpPr/>
          <p:nvPr/>
        </p:nvSpPr>
        <p:spPr>
          <a:xfrm>
            <a:off x="5627547" y="5226546"/>
            <a:ext cx="1343785" cy="167878"/>
          </a:xfrm>
          <a:prstGeom prst="rect">
            <a:avLst/>
          </a:prstGeom>
          <a:noFill/>
          <a:ln/>
        </p:spPr>
        <p:txBody>
          <a:bodyPr wrap="none" lIns="0" tIns="0" rIns="0" bIns="0" rtlCol="0" anchor="t"/>
          <a:lstStyle/>
          <a:p>
            <a:pPr marL="0" indent="0" algn="l">
              <a:lnSpc>
                <a:spcPct val="104000"/>
              </a:lnSpc>
              <a:buNone/>
            </a:pPr>
            <a:r>
              <a:rPr lang="en-US" sz="1050" dirty="0">
                <a:solidFill>
                  <a:srgbClr val="D7E5D8"/>
                </a:solidFill>
                <a:latin typeface="Syne ExtraBold" pitchFamily="34" charset="0"/>
                <a:ea typeface="Syne ExtraBold" pitchFamily="34" charset="-122"/>
                <a:cs typeface="Syne ExtraBold" pitchFamily="34" charset="-120"/>
              </a:rPr>
              <a:t>Affordable</a:t>
            </a:r>
            <a:endParaRPr lang="en-US" sz="1050" dirty="0"/>
          </a:p>
        </p:txBody>
      </p:sp>
      <p:sp>
        <p:nvSpPr>
          <p:cNvPr id="17" name="Text 9"/>
          <p:cNvSpPr/>
          <p:nvPr/>
        </p:nvSpPr>
        <p:spPr>
          <a:xfrm>
            <a:off x="5627547" y="5464274"/>
            <a:ext cx="5908924" cy="141883"/>
          </a:xfrm>
          <a:prstGeom prst="rect">
            <a:avLst/>
          </a:prstGeom>
          <a:noFill/>
          <a:ln/>
        </p:spPr>
        <p:txBody>
          <a:bodyPr wrap="none" lIns="0" tIns="0" rIns="0" bIns="0" rtlCol="0" anchor="t"/>
          <a:lstStyle/>
          <a:p>
            <a:pPr marL="0" indent="0" algn="l">
              <a:lnSpc>
                <a:spcPct val="110000"/>
              </a:lnSpc>
              <a:buNone/>
            </a:pPr>
            <a:r>
              <a:rPr lang="en-US" sz="800" dirty="0">
                <a:solidFill>
                  <a:srgbClr val="D7E5D8"/>
                </a:solidFill>
                <a:latin typeface="Syne" pitchFamily="34" charset="0"/>
                <a:ea typeface="Syne" pitchFamily="34" charset="-122"/>
                <a:cs typeface="Syne" pitchFamily="34" charset="-120"/>
              </a:rPr>
              <a:t>LLM runs only on top-N, not the full pool</a:t>
            </a:r>
            <a:endParaRPr lang="en-US" sz="800" dirty="0"/>
          </a:p>
        </p:txBody>
      </p:sp>
      <p:pic>
        <p:nvPicPr>
          <p:cNvPr id="18" name="Image 6" descr="preencoded.png"/>
          <p:cNvPicPr>
            <a:picLocks noChangeAspect="1"/>
          </p:cNvPicPr>
          <p:nvPr/>
        </p:nvPicPr>
        <p:blipFill>
          <a:blip r:embed="rId9"/>
          <a:stretch>
            <a:fillRect/>
          </a:stretch>
        </p:blipFill>
        <p:spPr>
          <a:xfrm>
            <a:off x="6829155" y="1256605"/>
            <a:ext cx="3220758" cy="3220839"/>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22618" y="3762772"/>
            <a:ext cx="160830" cy="160834"/>
          </a:xfrm>
          <a:prstGeom prst="rect">
            <a:avLst/>
          </a:prstGeom>
        </p:spPr>
      </p:pic>
      <p:sp>
        <p:nvSpPr>
          <p:cNvPr id="20" name="Shape 10"/>
          <p:cNvSpPr/>
          <p:nvPr/>
        </p:nvSpPr>
        <p:spPr>
          <a:xfrm>
            <a:off x="5342697" y="5767388"/>
            <a:ext cx="215002" cy="215007"/>
          </a:xfrm>
          <a:prstGeom prst="roundRect">
            <a:avLst>
              <a:gd name="adj" fmla="val 21001"/>
            </a:avLst>
          </a:prstGeom>
          <a:solidFill>
            <a:srgbClr val="547808"/>
          </a:solidFill>
          <a:ln w="6350">
            <a:solidFill>
              <a:srgbClr val="6D9121"/>
            </a:solidFill>
            <a:prstDash val="solid"/>
          </a:ln>
        </p:spPr>
      </p:sp>
      <p:pic>
        <p:nvPicPr>
          <p:cNvPr id="21"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82979" y="5807621"/>
            <a:ext cx="134339" cy="134342"/>
          </a:xfrm>
          <a:prstGeom prst="rect">
            <a:avLst/>
          </a:prstGeom>
        </p:spPr>
      </p:pic>
      <p:sp>
        <p:nvSpPr>
          <p:cNvPr id="22" name="Text 11"/>
          <p:cNvSpPr/>
          <p:nvPr/>
        </p:nvSpPr>
        <p:spPr>
          <a:xfrm>
            <a:off x="5627547" y="5790902"/>
            <a:ext cx="1343785" cy="167878"/>
          </a:xfrm>
          <a:prstGeom prst="rect">
            <a:avLst/>
          </a:prstGeom>
          <a:noFill/>
          <a:ln/>
        </p:spPr>
        <p:txBody>
          <a:bodyPr wrap="none" lIns="0" tIns="0" rIns="0" bIns="0" rtlCol="0" anchor="t"/>
          <a:lstStyle/>
          <a:p>
            <a:pPr marL="0" indent="0" algn="l">
              <a:lnSpc>
                <a:spcPct val="104000"/>
              </a:lnSpc>
              <a:buNone/>
            </a:pPr>
            <a:r>
              <a:rPr lang="en-US" sz="1050" dirty="0">
                <a:solidFill>
                  <a:srgbClr val="D7E5D8"/>
                </a:solidFill>
                <a:latin typeface="Syne ExtraBold" pitchFamily="34" charset="0"/>
                <a:ea typeface="Syne ExtraBold" pitchFamily="34" charset="-122"/>
                <a:cs typeface="Syne ExtraBold" pitchFamily="34" charset="-120"/>
              </a:rPr>
              <a:t>Scalable</a:t>
            </a:r>
            <a:endParaRPr lang="en-US" sz="1050" dirty="0"/>
          </a:p>
        </p:txBody>
      </p:sp>
      <p:sp>
        <p:nvSpPr>
          <p:cNvPr id="23" name="Text 12"/>
          <p:cNvSpPr/>
          <p:nvPr/>
        </p:nvSpPr>
        <p:spPr>
          <a:xfrm>
            <a:off x="5627547" y="6028630"/>
            <a:ext cx="5908924" cy="141883"/>
          </a:xfrm>
          <a:prstGeom prst="rect">
            <a:avLst/>
          </a:prstGeom>
          <a:noFill/>
          <a:ln/>
        </p:spPr>
        <p:txBody>
          <a:bodyPr wrap="none" lIns="0" tIns="0" rIns="0" bIns="0" rtlCol="0" anchor="t"/>
          <a:lstStyle/>
          <a:p>
            <a:pPr marL="0" indent="0" algn="l">
              <a:lnSpc>
                <a:spcPct val="110000"/>
              </a:lnSpc>
              <a:buNone/>
            </a:pPr>
            <a:r>
              <a:rPr lang="en-US" sz="800" dirty="0">
                <a:solidFill>
                  <a:srgbClr val="D7E5D8"/>
                </a:solidFill>
                <a:latin typeface="Syne" pitchFamily="34" charset="0"/>
                <a:ea typeface="Syne" pitchFamily="34" charset="-122"/>
                <a:cs typeface="Syne" pitchFamily="34" charset="-120"/>
              </a:rPr>
              <a:t>Handles 100K+ candidates with deterministic fallbacks</a:t>
            </a:r>
            <a:endParaRPr lang="en-US" sz="800" dirty="0"/>
          </a:p>
        </p:txBody>
      </p:sp>
      <p:pic>
        <p:nvPicPr>
          <p:cNvPr id="24" name="Picture 23">
            <a:extLst>
              <a:ext uri="{FF2B5EF4-FFF2-40B4-BE49-F238E27FC236}">
                <a16:creationId xmlns:a16="http://schemas.microsoft.com/office/drawing/2014/main" id="{C084089B-3BF8-3945-313E-A4294E9A2849}"/>
              </a:ext>
            </a:extLst>
          </p:cNvPr>
          <p:cNvPicPr>
            <a:picLocks noChangeAspect="1"/>
          </p:cNvPicPr>
          <p:nvPr/>
        </p:nvPicPr>
        <p:blipFill>
          <a:blip r:embed="rId12"/>
          <a:stretch>
            <a:fillRect/>
          </a:stretch>
        </p:blipFill>
        <p:spPr>
          <a:xfrm>
            <a:off x="10951050" y="6511671"/>
            <a:ext cx="1158340" cy="3463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457200"/>
            <a:ext cx="583392" cy="218877"/>
          </a:xfrm>
          <a:prstGeom prst="roundRect">
            <a:avLst>
              <a:gd name="adj" fmla="val 19439"/>
            </a:avLst>
          </a:prstGeom>
          <a:solidFill>
            <a:srgbClr val="334805"/>
          </a:solidFill>
          <a:ln/>
        </p:spPr>
      </p:sp>
      <p:sp>
        <p:nvSpPr>
          <p:cNvPr id="3" name="Text 1"/>
          <p:cNvSpPr/>
          <p:nvPr/>
        </p:nvSpPr>
        <p:spPr>
          <a:xfrm>
            <a:off x="737375" y="495102"/>
            <a:ext cx="1041176" cy="143073"/>
          </a:xfrm>
          <a:prstGeom prst="rect">
            <a:avLst/>
          </a:prstGeom>
          <a:noFill/>
          <a:ln/>
        </p:spPr>
        <p:txBody>
          <a:bodyPr wrap="none" lIns="0" tIns="0" rIns="0" bIns="0" rtlCol="0" anchor="t"/>
          <a:lstStyle/>
          <a:p>
            <a:pPr marL="0" indent="0" algn="l">
              <a:lnSpc>
                <a:spcPct val="118000"/>
              </a:lnSpc>
              <a:buNone/>
            </a:pPr>
            <a:r>
              <a:rPr lang="en-US" sz="750" dirty="0">
                <a:solidFill>
                  <a:srgbClr val="D7E5D8"/>
                </a:solidFill>
                <a:latin typeface="Syne" pitchFamily="34" charset="0"/>
                <a:ea typeface="Syne" pitchFamily="34" charset="-122"/>
                <a:cs typeface="Syne" pitchFamily="34" charset="-120"/>
              </a:rPr>
              <a:t>PIPELINE</a:t>
            </a:r>
            <a:endParaRPr lang="en-US" sz="750" dirty="0"/>
          </a:p>
        </p:txBody>
      </p:sp>
      <p:sp>
        <p:nvSpPr>
          <p:cNvPr id="4" name="Text 2"/>
          <p:cNvSpPr/>
          <p:nvPr/>
        </p:nvSpPr>
        <p:spPr>
          <a:xfrm>
            <a:off x="661475" y="714772"/>
            <a:ext cx="5875389" cy="316607"/>
          </a:xfrm>
          <a:prstGeom prst="rect">
            <a:avLst/>
          </a:prstGeom>
          <a:noFill/>
          <a:ln/>
        </p:spPr>
        <p:txBody>
          <a:bodyPr wrap="none" lIns="0" tIns="0" rIns="0" bIns="0" rtlCol="0" anchor="t"/>
          <a:lstStyle/>
          <a:p>
            <a:pPr marL="0" indent="0" algn="l">
              <a:lnSpc>
                <a:spcPct val="104000"/>
              </a:lnSpc>
              <a:buNone/>
            </a:pPr>
            <a:r>
              <a:rPr lang="en-US" sz="1950" dirty="0">
                <a:solidFill>
                  <a:srgbClr val="F0F4F1"/>
                </a:solidFill>
                <a:latin typeface="Syne ExtraBold" pitchFamily="34" charset="0"/>
                <a:ea typeface="Syne ExtraBold" pitchFamily="34" charset="-122"/>
                <a:cs typeface="Syne ExtraBold" pitchFamily="34" charset="-120"/>
              </a:rPr>
              <a:t>How It Works — End to End</a:t>
            </a:r>
            <a:endParaRPr lang="en-US" sz="1950" dirty="0"/>
          </a:p>
        </p:txBody>
      </p:sp>
      <p:sp>
        <p:nvSpPr>
          <p:cNvPr id="5" name="Text 3"/>
          <p:cNvSpPr/>
          <p:nvPr/>
        </p:nvSpPr>
        <p:spPr>
          <a:xfrm>
            <a:off x="661475" y="1176734"/>
            <a:ext cx="11478330" cy="178792"/>
          </a:xfrm>
          <a:prstGeom prst="rect">
            <a:avLst/>
          </a:prstGeom>
          <a:noFill/>
          <a:ln/>
        </p:spPr>
        <p:txBody>
          <a:bodyPr wrap="none" lIns="0" tIns="0" rIns="0" bIns="0" rtlCol="0" anchor="t"/>
          <a:lstStyle/>
          <a:p>
            <a:pPr marL="0" indent="0" algn="l">
              <a:lnSpc>
                <a:spcPct val="118000"/>
              </a:lnSpc>
              <a:buNone/>
            </a:pPr>
            <a:r>
              <a:rPr lang="en-US" sz="950" dirty="0">
                <a:solidFill>
                  <a:srgbClr val="D7E5D8"/>
                </a:solidFill>
                <a:latin typeface="Syne" pitchFamily="34" charset="0"/>
                <a:ea typeface="Syne" pitchFamily="34" charset="-122"/>
                <a:cs typeface="Syne" pitchFamily="34" charset="-120"/>
              </a:rPr>
              <a:t>From raw job description to ranked, briefed candidate shortlist — six sequential stages, each building on the previous layer's output.</a:t>
            </a:r>
            <a:endParaRPr lang="en-US" sz="950" dirty="0"/>
          </a:p>
        </p:txBody>
      </p:sp>
      <p:pic>
        <p:nvPicPr>
          <p:cNvPr id="6" name="Image 0" descr="preencoded.png"/>
          <p:cNvPicPr>
            <a:picLocks noChangeAspect="1"/>
          </p:cNvPicPr>
          <p:nvPr/>
        </p:nvPicPr>
        <p:blipFill>
          <a:blip r:embed="rId3"/>
          <a:stretch>
            <a:fillRect/>
          </a:stretch>
        </p:blipFill>
        <p:spPr>
          <a:xfrm>
            <a:off x="706221" y="1464568"/>
            <a:ext cx="10779153" cy="4648299"/>
          </a:xfrm>
          <a:prstGeom prst="rect">
            <a:avLst/>
          </a:prstGeom>
        </p:spPr>
      </p:pic>
      <p:sp>
        <p:nvSpPr>
          <p:cNvPr id="7" name="Text 4"/>
          <p:cNvSpPr/>
          <p:nvPr/>
        </p:nvSpPr>
        <p:spPr>
          <a:xfrm>
            <a:off x="1431583" y="5231376"/>
            <a:ext cx="3021946" cy="305684"/>
          </a:xfrm>
          <a:prstGeom prst="rect">
            <a:avLst/>
          </a:prstGeom>
          <a:noFill/>
          <a:ln/>
        </p:spPr>
        <p:txBody>
          <a:bodyPr wrap="none" lIns="0" tIns="0" rIns="0" bIns="0" rtlCol="0" anchor="t"/>
          <a:lstStyle/>
          <a:p>
            <a:pPr marL="0" indent="0" algn="l">
              <a:lnSpc>
                <a:spcPct val="104000"/>
              </a:lnSpc>
              <a:buNone/>
            </a:pPr>
            <a:r>
              <a:rPr lang="en-US" sz="1900" dirty="0">
                <a:solidFill>
                  <a:srgbClr val="000000"/>
                </a:solidFill>
                <a:latin typeface="Syne ExtraBold" pitchFamily="34" charset="0"/>
                <a:ea typeface="Syne ExtraBold" pitchFamily="34" charset="-122"/>
                <a:cs typeface="Syne ExtraBold" pitchFamily="34" charset="-120"/>
              </a:rPr>
              <a:t>Score &amp; Review</a:t>
            </a:r>
            <a:endParaRPr lang="en-US" sz="1900" dirty="0"/>
          </a:p>
        </p:txBody>
      </p:sp>
      <p:sp>
        <p:nvSpPr>
          <p:cNvPr id="8" name="Text 5"/>
          <p:cNvSpPr/>
          <p:nvPr/>
        </p:nvSpPr>
        <p:spPr>
          <a:xfrm>
            <a:off x="1431583" y="4155370"/>
            <a:ext cx="2779783" cy="305684"/>
          </a:xfrm>
          <a:prstGeom prst="rect">
            <a:avLst/>
          </a:prstGeom>
          <a:noFill/>
          <a:ln/>
        </p:spPr>
        <p:txBody>
          <a:bodyPr wrap="none" lIns="0" tIns="0" rIns="0" bIns="0" rtlCol="0" anchor="t"/>
          <a:lstStyle/>
          <a:p>
            <a:pPr marL="0" indent="0" algn="l">
              <a:lnSpc>
                <a:spcPct val="104000"/>
              </a:lnSpc>
              <a:buNone/>
            </a:pPr>
            <a:r>
              <a:rPr lang="en-US" sz="1900" dirty="0">
                <a:solidFill>
                  <a:srgbClr val="000000"/>
                </a:solidFill>
                <a:latin typeface="Syne ExtraBold" pitchFamily="34" charset="0"/>
                <a:ea typeface="Syne ExtraBold" pitchFamily="34" charset="-122"/>
                <a:cs typeface="Syne ExtraBold" pitchFamily="34" charset="-120"/>
              </a:rPr>
              <a:t>Enrich Profiles</a:t>
            </a:r>
            <a:endParaRPr lang="en-US" sz="1900" dirty="0"/>
          </a:p>
        </p:txBody>
      </p:sp>
      <p:sp>
        <p:nvSpPr>
          <p:cNvPr id="9" name="Text 6"/>
          <p:cNvSpPr/>
          <p:nvPr/>
        </p:nvSpPr>
        <p:spPr>
          <a:xfrm>
            <a:off x="1431583" y="3090232"/>
            <a:ext cx="3224541" cy="305683"/>
          </a:xfrm>
          <a:prstGeom prst="rect">
            <a:avLst/>
          </a:prstGeom>
          <a:noFill/>
          <a:ln/>
        </p:spPr>
        <p:txBody>
          <a:bodyPr wrap="none" lIns="0" tIns="0" rIns="0" bIns="0" rtlCol="0" anchor="t"/>
          <a:lstStyle/>
          <a:p>
            <a:pPr marL="0" indent="0" algn="l">
              <a:lnSpc>
                <a:spcPct val="104000"/>
              </a:lnSpc>
              <a:buNone/>
            </a:pPr>
            <a:r>
              <a:rPr lang="en-US" sz="1900" dirty="0">
                <a:solidFill>
                  <a:srgbClr val="000000"/>
                </a:solidFill>
                <a:latin typeface="Syne ExtraBold" pitchFamily="34" charset="0"/>
                <a:ea typeface="Syne ExtraBold" pitchFamily="34" charset="-122"/>
                <a:cs typeface="Syne ExtraBold" pitchFamily="34" charset="-120"/>
              </a:rPr>
              <a:t>Extract JobDNA</a:t>
            </a:r>
            <a:endParaRPr lang="en-US" sz="1900" dirty="0"/>
          </a:p>
        </p:txBody>
      </p:sp>
      <p:sp>
        <p:nvSpPr>
          <p:cNvPr id="10" name="Text 7"/>
          <p:cNvSpPr/>
          <p:nvPr/>
        </p:nvSpPr>
        <p:spPr>
          <a:xfrm>
            <a:off x="1431583" y="2014226"/>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000000"/>
                </a:solidFill>
                <a:latin typeface="Syne ExtraBold" pitchFamily="34" charset="0"/>
                <a:ea typeface="Syne ExtraBold" pitchFamily="34" charset="-122"/>
                <a:cs typeface="Syne ExtraBold" pitchFamily="34" charset="-120"/>
              </a:rPr>
              <a:t>Ingest Data</a:t>
            </a:r>
            <a:endParaRPr lang="en-US" sz="1900" dirty="0"/>
          </a:p>
        </p:txBody>
      </p:sp>
      <p:sp>
        <p:nvSpPr>
          <p:cNvPr id="11" name="Text 8"/>
          <p:cNvSpPr/>
          <p:nvPr/>
        </p:nvSpPr>
        <p:spPr>
          <a:xfrm>
            <a:off x="661475" y="6016570"/>
            <a:ext cx="11478330" cy="346329"/>
          </a:xfrm>
          <a:prstGeom prst="rect">
            <a:avLst/>
          </a:prstGeom>
          <a:noFill/>
          <a:ln/>
        </p:spPr>
        <p:txBody>
          <a:bodyPr wrap="none" lIns="0" tIns="0" rIns="0" bIns="0" rtlCol="0" anchor="t"/>
          <a:lstStyle/>
          <a:p>
            <a:pPr marL="0" indent="0" algn="l">
              <a:lnSpc>
                <a:spcPct val="118000"/>
              </a:lnSpc>
              <a:buNone/>
            </a:pPr>
            <a:r>
              <a:rPr lang="en-US" sz="1100" dirty="0">
                <a:solidFill>
                  <a:srgbClr val="D7E5D8"/>
                </a:solidFill>
                <a:latin typeface="Syne" pitchFamily="34" charset="0"/>
                <a:ea typeface="Syne" pitchFamily="34" charset="-122"/>
                <a:cs typeface="Syne" pitchFamily="34" charset="-120"/>
              </a:rPr>
              <a:t>The pipeline is designed for modularity — each stage can be swapped, tuned, or bypassed without breaking downstream stages. This makes iteration fast and debugging surgical.</a:t>
            </a:r>
            <a:endParaRPr lang="en-US" sz="1100" dirty="0"/>
          </a:p>
        </p:txBody>
      </p:sp>
      <p:pic>
        <p:nvPicPr>
          <p:cNvPr id="12" name="Picture 11">
            <a:extLst>
              <a:ext uri="{FF2B5EF4-FFF2-40B4-BE49-F238E27FC236}">
                <a16:creationId xmlns:a16="http://schemas.microsoft.com/office/drawing/2014/main" id="{6781382E-999B-6B37-174A-0E1E4D8DCB0F}"/>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43980"/>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F0F4F1"/>
                </a:solidFill>
                <a:latin typeface="Syne ExtraBold" pitchFamily="34" charset="0"/>
                <a:ea typeface="Syne ExtraBold" pitchFamily="34" charset="-122"/>
                <a:cs typeface="Syne ExtraBold" pitchFamily="34" charset="-120"/>
              </a:rPr>
              <a:t>Deliverables</a:t>
            </a:r>
            <a:endParaRPr lang="en-US" sz="1600" dirty="0"/>
          </a:p>
        </p:txBody>
      </p:sp>
      <p:sp>
        <p:nvSpPr>
          <p:cNvPr id="3" name="Text 1"/>
          <p:cNvSpPr/>
          <p:nvPr/>
        </p:nvSpPr>
        <p:spPr>
          <a:xfrm>
            <a:off x="661475" y="1368524"/>
            <a:ext cx="10799393" cy="413445"/>
          </a:xfrm>
          <a:prstGeom prst="rect">
            <a:avLst/>
          </a:prstGeom>
          <a:noFill/>
          <a:ln/>
        </p:spPr>
        <p:txBody>
          <a:bodyPr wrap="none" lIns="0" tIns="0" rIns="0" bIns="0" rtlCol="0" anchor="t"/>
          <a:lstStyle/>
          <a:p>
            <a:pPr marL="0" indent="0" algn="l">
              <a:lnSpc>
                <a:spcPct val="104000"/>
              </a:lnSpc>
              <a:buNone/>
            </a:pPr>
            <a:r>
              <a:rPr lang="en-US" sz="2600" dirty="0">
                <a:solidFill>
                  <a:srgbClr val="F0F4F1"/>
                </a:solidFill>
                <a:latin typeface="Syne ExtraBold" pitchFamily="34" charset="0"/>
                <a:ea typeface="Syne ExtraBold" pitchFamily="34" charset="-122"/>
                <a:cs typeface="Syne ExtraBold" pitchFamily="34" charset="-120"/>
              </a:rPr>
              <a:t>Outputs &amp; UI — Transparency by Design</a:t>
            </a:r>
            <a:endParaRPr lang="en-US" sz="2600" dirty="0"/>
          </a:p>
        </p:txBody>
      </p:sp>
      <p:sp>
        <p:nvSpPr>
          <p:cNvPr id="4" name="Text 2"/>
          <p:cNvSpPr/>
          <p:nvPr/>
        </p:nvSpPr>
        <p:spPr>
          <a:xfrm>
            <a:off x="661475" y="2030016"/>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Every artifact is structured for human review. Recruiters can trace any ranking decision back to its individual signal contributions, and engineering teams can inspect the full analysis for debugging or audit purposes.</a:t>
            </a:r>
            <a:endParaRPr lang="en-US" sz="13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45284"/>
            <a:ext cx="2593216" cy="3068638"/>
          </a:xfrm>
          <a:prstGeom prst="rect">
            <a:avLst/>
          </a:prstGeom>
        </p:spPr>
      </p:pic>
      <p:sp>
        <p:nvSpPr>
          <p:cNvPr id="6" name="Text 3"/>
          <p:cNvSpPr/>
          <p:nvPr/>
        </p:nvSpPr>
        <p:spPr>
          <a:xfrm>
            <a:off x="1834013" y="285412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Syne ExtraBold" pitchFamily="34" charset="0"/>
                <a:ea typeface="Syne ExtraBold" pitchFamily="34" charset="-122"/>
                <a:cs typeface="Syne ExtraBold" pitchFamily="34" charset="-120"/>
              </a:rPr>
              <a:t>1</a:t>
            </a:r>
            <a:endParaRPr lang="en-US" sz="1950" dirty="0"/>
          </a:p>
        </p:txBody>
      </p:sp>
      <p:sp>
        <p:nvSpPr>
          <p:cNvPr id="7" name="Text 4"/>
          <p:cNvSpPr/>
          <p:nvPr/>
        </p:nvSpPr>
        <p:spPr>
          <a:xfrm>
            <a:off x="845819" y="3425726"/>
            <a:ext cx="2224528"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ranked_candidates.csv</a:t>
            </a:r>
            <a:endParaRPr lang="en-US" sz="1600" dirty="0"/>
          </a:p>
        </p:txBody>
      </p:sp>
      <p:sp>
        <p:nvSpPr>
          <p:cNvPr id="8" name="Text 5"/>
          <p:cNvSpPr/>
          <p:nvPr/>
        </p:nvSpPr>
        <p:spPr>
          <a:xfrm>
            <a:off x="845819" y="4041874"/>
            <a:ext cx="2224528"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The final shortlist — candidate IDs sorted by composite score, ready for recruiter review. This is the primary output.</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9985" y="2745284"/>
            <a:ext cx="2593216" cy="3068638"/>
          </a:xfrm>
          <a:prstGeom prst="rect">
            <a:avLst/>
          </a:prstGeom>
        </p:spPr>
      </p:pic>
      <p:sp>
        <p:nvSpPr>
          <p:cNvPr id="10" name="Text 6"/>
          <p:cNvSpPr/>
          <p:nvPr/>
        </p:nvSpPr>
        <p:spPr>
          <a:xfrm>
            <a:off x="4592523" y="285412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Syne ExtraBold" pitchFamily="34" charset="0"/>
                <a:ea typeface="Syne ExtraBold" pitchFamily="34" charset="-122"/>
                <a:cs typeface="Syne ExtraBold" pitchFamily="34" charset="-120"/>
              </a:rPr>
              <a:t>2</a:t>
            </a:r>
            <a:endParaRPr lang="en-US" sz="1950" dirty="0"/>
          </a:p>
        </p:txBody>
      </p:sp>
      <p:sp>
        <p:nvSpPr>
          <p:cNvPr id="11" name="Text 7"/>
          <p:cNvSpPr/>
          <p:nvPr/>
        </p:nvSpPr>
        <p:spPr>
          <a:xfrm>
            <a:off x="3604329" y="3425726"/>
            <a:ext cx="2224528"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score_breakdown.csv</a:t>
            </a:r>
            <a:endParaRPr lang="en-US" sz="1600" dirty="0"/>
          </a:p>
        </p:txBody>
      </p:sp>
      <p:sp>
        <p:nvSpPr>
          <p:cNvPr id="12" name="Text 8"/>
          <p:cNvSpPr/>
          <p:nvPr/>
        </p:nvSpPr>
        <p:spPr>
          <a:xfrm>
            <a:off x="3604329" y="4041874"/>
            <a:ext cx="2224528" cy="1587698"/>
          </a:xfrm>
          <a:prstGeom prst="rect">
            <a:avLst/>
          </a:prstGeom>
          <a:noFill/>
          <a:ln/>
        </p:spPr>
        <p:txBody>
          <a:bodyPr wrap="square" lIns="0" tIns="0" rIns="0" bIns="0" rtlCol="0" anchor="t">
            <a:normAutofit fontScale="92500"/>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Signal-level transparency: each candidate's individual scores for semantic similarity, hard constraints, LLM judgment, and trajectory — so every ranking is fully auditable.</a:t>
            </a:r>
            <a:endParaRPr lang="en-US" sz="1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2745284"/>
            <a:ext cx="2593216" cy="3068638"/>
          </a:xfrm>
          <a:prstGeom prst="rect">
            <a:avLst/>
          </a:prstGeom>
        </p:spPr>
      </p:pic>
      <p:sp>
        <p:nvSpPr>
          <p:cNvPr id="14" name="Text 9"/>
          <p:cNvSpPr/>
          <p:nvPr/>
        </p:nvSpPr>
        <p:spPr>
          <a:xfrm>
            <a:off x="7351033" y="285412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Syne ExtraBold" pitchFamily="34" charset="0"/>
                <a:ea typeface="Syne ExtraBold" pitchFamily="34" charset="-122"/>
                <a:cs typeface="Syne ExtraBold" pitchFamily="34" charset="-120"/>
              </a:rPr>
              <a:t>3</a:t>
            </a:r>
            <a:endParaRPr lang="en-US" sz="1950" dirty="0"/>
          </a:p>
        </p:txBody>
      </p:sp>
      <p:sp>
        <p:nvSpPr>
          <p:cNvPr id="15" name="Text 10"/>
          <p:cNvSpPr/>
          <p:nvPr/>
        </p:nvSpPr>
        <p:spPr>
          <a:xfrm>
            <a:off x="6362838" y="3425726"/>
            <a:ext cx="2224528"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candidate_briefs.csv</a:t>
            </a:r>
            <a:endParaRPr lang="en-US" sz="1600" dirty="0"/>
          </a:p>
        </p:txBody>
      </p:sp>
      <p:sp>
        <p:nvSpPr>
          <p:cNvPr id="16" name="Text 11"/>
          <p:cNvSpPr/>
          <p:nvPr/>
        </p:nvSpPr>
        <p:spPr>
          <a:xfrm>
            <a:off x="6362838" y="4041874"/>
            <a:ext cx="2224528"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Recruiter-ready summaries with key strengths, concerns, and fit rationale per candidate — designed for fast human review without opening every resume.</a:t>
            </a:r>
            <a:endParaRPr lang="en-US" sz="13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37005" y="2745284"/>
            <a:ext cx="2593216" cy="3068638"/>
          </a:xfrm>
          <a:prstGeom prst="rect">
            <a:avLst/>
          </a:prstGeom>
        </p:spPr>
      </p:pic>
      <p:sp>
        <p:nvSpPr>
          <p:cNvPr id="18" name="Text 12"/>
          <p:cNvSpPr/>
          <p:nvPr/>
        </p:nvSpPr>
        <p:spPr>
          <a:xfrm>
            <a:off x="10109542" y="285412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Syne ExtraBold" pitchFamily="34" charset="0"/>
                <a:ea typeface="Syne ExtraBold" pitchFamily="34" charset="-122"/>
                <a:cs typeface="Syne ExtraBold" pitchFamily="34" charset="-120"/>
              </a:rPr>
              <a:t>4</a:t>
            </a:r>
            <a:endParaRPr lang="en-US" sz="1950" dirty="0"/>
          </a:p>
        </p:txBody>
      </p:sp>
      <p:sp>
        <p:nvSpPr>
          <p:cNvPr id="19" name="Text 13"/>
          <p:cNvSpPr/>
          <p:nvPr/>
        </p:nvSpPr>
        <p:spPr>
          <a:xfrm>
            <a:off x="9121348" y="3425726"/>
            <a:ext cx="2224528"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full_analysis.json</a:t>
            </a:r>
            <a:endParaRPr lang="en-US" sz="1600" dirty="0"/>
          </a:p>
        </p:txBody>
      </p:sp>
      <p:sp>
        <p:nvSpPr>
          <p:cNvPr id="20" name="Text 14"/>
          <p:cNvSpPr/>
          <p:nvPr/>
        </p:nvSpPr>
        <p:spPr>
          <a:xfrm>
            <a:off x="9121348" y="4041874"/>
            <a:ext cx="2224528"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Complete structured output for deep inspection, debugging, and integration. Includes every intermediate computation and metadata object.</a:t>
            </a:r>
            <a:endParaRPr lang="en-US" sz="1300" dirty="0"/>
          </a:p>
        </p:txBody>
      </p:sp>
      <p:pic>
        <p:nvPicPr>
          <p:cNvPr id="21" name="Picture 20">
            <a:extLst>
              <a:ext uri="{FF2B5EF4-FFF2-40B4-BE49-F238E27FC236}">
                <a16:creationId xmlns:a16="http://schemas.microsoft.com/office/drawing/2014/main" id="{0EE2D14B-1E98-932B-3C7B-A997A2D0EC38}"/>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891381"/>
            <a:ext cx="3367797" cy="258465"/>
          </a:xfrm>
          <a:prstGeom prst="rect">
            <a:avLst/>
          </a:prstGeom>
          <a:noFill/>
          <a:ln/>
        </p:spPr>
        <p:txBody>
          <a:bodyPr wrap="none" lIns="0" tIns="0" rIns="0" bIns="0" rtlCol="0" anchor="t"/>
          <a:lstStyle/>
          <a:p>
            <a:pPr marL="0" indent="0" algn="l">
              <a:lnSpc>
                <a:spcPct val="104000"/>
              </a:lnSpc>
              <a:buNone/>
            </a:pPr>
            <a:r>
              <a:rPr lang="en-US" sz="1600" dirty="0">
                <a:solidFill>
                  <a:srgbClr val="F0F4F1"/>
                </a:solidFill>
                <a:latin typeface="Syne ExtraBold" pitchFamily="34" charset="0"/>
                <a:ea typeface="Syne ExtraBold" pitchFamily="34" charset="-122"/>
                <a:cs typeface="Syne ExtraBold" pitchFamily="34" charset="-120"/>
              </a:rPr>
              <a:t>Example Impact</a:t>
            </a:r>
            <a:endParaRPr lang="en-US" sz="1600" dirty="0"/>
          </a:p>
        </p:txBody>
      </p:sp>
      <p:sp>
        <p:nvSpPr>
          <p:cNvPr id="4" name="Text 1"/>
          <p:cNvSpPr/>
          <p:nvPr/>
        </p:nvSpPr>
        <p:spPr>
          <a:xfrm>
            <a:off x="5233360" y="1215926"/>
            <a:ext cx="6296860" cy="826889"/>
          </a:xfrm>
          <a:prstGeom prst="rect">
            <a:avLst/>
          </a:prstGeom>
          <a:noFill/>
          <a:ln/>
        </p:spPr>
        <p:txBody>
          <a:bodyPr wrap="square" lIns="0" tIns="0" rIns="0" bIns="0" rtlCol="0" anchor="t">
            <a:normAutofit/>
          </a:bodyPr>
          <a:lstStyle/>
          <a:p>
            <a:pPr marL="0" indent="0" algn="l">
              <a:lnSpc>
                <a:spcPct val="104000"/>
              </a:lnSpc>
              <a:buNone/>
            </a:pPr>
            <a:r>
              <a:rPr lang="en-US" sz="2600" dirty="0">
                <a:solidFill>
                  <a:srgbClr val="F0F4F1"/>
                </a:solidFill>
                <a:latin typeface="Syne ExtraBold" pitchFamily="34" charset="0"/>
                <a:ea typeface="Syne ExtraBold" pitchFamily="34" charset="-122"/>
                <a:cs typeface="Syne ExtraBold" pitchFamily="34" charset="-120"/>
              </a:rPr>
              <a:t>Validated at 100,000 Candidates</a:t>
            </a:r>
            <a:endParaRPr lang="en-US" sz="2600" dirty="0"/>
          </a:p>
        </p:txBody>
      </p:sp>
      <p:sp>
        <p:nvSpPr>
          <p:cNvPr id="5" name="Text 2"/>
          <p:cNvSpPr/>
          <p:nvPr/>
        </p:nvSpPr>
        <p:spPr>
          <a:xfrm>
            <a:off x="5233360" y="2290862"/>
            <a:ext cx="629686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The pipeline has been tested end to end against a dataset of </a:t>
            </a:r>
            <a:r>
              <a:rPr lang="en-US" sz="1300" b="1" dirty="0">
                <a:solidFill>
                  <a:srgbClr val="D7E5D8"/>
                </a:solidFill>
                <a:latin typeface="Syne Bold" pitchFamily="34" charset="0"/>
                <a:ea typeface="Syne Bold" pitchFamily="34" charset="-122"/>
                <a:cs typeface="Syne Bold" pitchFamily="34" charset="-120"/>
              </a:rPr>
              <a:t>100,000 candidates</a:t>
            </a:r>
            <a:r>
              <a:rPr lang="en-US" sz="1300" dirty="0">
                <a:solidFill>
                  <a:srgbClr val="D7E5D8"/>
                </a:solidFill>
                <a:latin typeface="Syne" pitchFamily="34" charset="0"/>
                <a:ea typeface="Syne" pitchFamily="34" charset="-122"/>
                <a:cs typeface="Syne" pitchFamily="34" charset="-120"/>
              </a:rPr>
              <a:t>, ranking the full pool with deterministic fallbacks in dry-run mode and with Anthropic API scoring in live mode.</a:t>
            </a:r>
            <a:endParaRPr lang="en-US" sz="1300" dirty="0"/>
          </a:p>
        </p:txBody>
      </p:sp>
      <p:sp>
        <p:nvSpPr>
          <p:cNvPr id="6" name="Text 3"/>
          <p:cNvSpPr/>
          <p:nvPr/>
        </p:nvSpPr>
        <p:spPr>
          <a:xfrm>
            <a:off x="5233360" y="3353395"/>
            <a:ext cx="1961109" cy="545802"/>
          </a:xfrm>
          <a:prstGeom prst="rect">
            <a:avLst/>
          </a:prstGeom>
          <a:noFill/>
          <a:ln/>
        </p:spPr>
        <p:txBody>
          <a:bodyPr wrap="none" lIns="0" tIns="0" rIns="0" bIns="0" rtlCol="0" anchor="t"/>
          <a:lstStyle/>
          <a:p>
            <a:pPr marL="0" indent="0" algn="ctr">
              <a:lnSpc>
                <a:spcPct val="83000"/>
              </a:lnSpc>
              <a:buNone/>
            </a:pPr>
            <a:r>
              <a:rPr lang="en-US" sz="4250" dirty="0">
                <a:solidFill>
                  <a:srgbClr val="D7E5D8"/>
                </a:solidFill>
                <a:latin typeface="Syne ExtraBold" pitchFamily="34" charset="0"/>
                <a:ea typeface="Syne ExtraBold" pitchFamily="34" charset="-122"/>
                <a:cs typeface="Syne ExtraBold" pitchFamily="34" charset="-120"/>
              </a:rPr>
              <a:t>100K</a:t>
            </a:r>
            <a:endParaRPr lang="en-US" sz="4250" dirty="0"/>
          </a:p>
        </p:txBody>
      </p:sp>
      <p:sp>
        <p:nvSpPr>
          <p:cNvPr id="7" name="Text 4"/>
          <p:cNvSpPr/>
          <p:nvPr/>
        </p:nvSpPr>
        <p:spPr>
          <a:xfrm>
            <a:off x="5233360" y="4105870"/>
            <a:ext cx="1961109" cy="516930"/>
          </a:xfrm>
          <a:prstGeom prst="rect">
            <a:avLst/>
          </a:prstGeom>
          <a:noFill/>
          <a:ln/>
        </p:spPr>
        <p:txBody>
          <a:bodyPr wrap="square" lIns="0" tIns="0" rIns="0" bIns="0" rtlCol="0" anchor="t">
            <a:normAutofit/>
          </a:bodyPr>
          <a:lstStyle/>
          <a:p>
            <a:pPr marL="0" indent="0" algn="ctr">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Candidates Ranked</a:t>
            </a:r>
            <a:endParaRPr lang="en-US" sz="1600" dirty="0"/>
          </a:p>
        </p:txBody>
      </p:sp>
      <p:sp>
        <p:nvSpPr>
          <p:cNvPr id="8" name="Text 5"/>
          <p:cNvSpPr/>
          <p:nvPr/>
        </p:nvSpPr>
        <p:spPr>
          <a:xfrm>
            <a:off x="5233360" y="4722019"/>
            <a:ext cx="1961109" cy="529233"/>
          </a:xfrm>
          <a:prstGeom prst="rect">
            <a:avLst/>
          </a:prstGeom>
          <a:noFill/>
          <a:ln/>
        </p:spPr>
        <p:txBody>
          <a:bodyPr wrap="square" lIns="0" tIns="0" rIns="0" bIns="0" rtlCol="0" anchor="t">
            <a:normAutofit/>
          </a:bodyPr>
          <a:lstStyle/>
          <a:p>
            <a:pPr marL="0" indent="0" algn="ctr">
              <a:lnSpc>
                <a:spcPct val="133000"/>
              </a:lnSpc>
              <a:buNone/>
            </a:pPr>
            <a:r>
              <a:rPr lang="en-US" sz="1300" dirty="0">
                <a:solidFill>
                  <a:srgbClr val="D7E5D8"/>
                </a:solidFill>
                <a:latin typeface="Syne" pitchFamily="34" charset="0"/>
                <a:ea typeface="Syne" pitchFamily="34" charset="-122"/>
                <a:cs typeface="Syne" pitchFamily="34" charset="-120"/>
              </a:rPr>
              <a:t>Full pool processed end to end</a:t>
            </a:r>
            <a:endParaRPr lang="en-US" sz="1300" dirty="0"/>
          </a:p>
        </p:txBody>
      </p:sp>
      <p:sp>
        <p:nvSpPr>
          <p:cNvPr id="9" name="Text 6"/>
          <p:cNvSpPr/>
          <p:nvPr/>
        </p:nvSpPr>
        <p:spPr>
          <a:xfrm>
            <a:off x="7401137" y="3353395"/>
            <a:ext cx="1961208" cy="545802"/>
          </a:xfrm>
          <a:prstGeom prst="rect">
            <a:avLst/>
          </a:prstGeom>
          <a:noFill/>
          <a:ln/>
        </p:spPr>
        <p:txBody>
          <a:bodyPr wrap="none" lIns="0" tIns="0" rIns="0" bIns="0" rtlCol="0" anchor="t"/>
          <a:lstStyle/>
          <a:p>
            <a:pPr marL="0" indent="0" algn="ctr">
              <a:lnSpc>
                <a:spcPct val="83000"/>
              </a:lnSpc>
              <a:buNone/>
            </a:pPr>
            <a:r>
              <a:rPr lang="en-US" sz="4250" dirty="0">
                <a:solidFill>
                  <a:srgbClr val="D7E5D8"/>
                </a:solidFill>
                <a:latin typeface="Syne ExtraBold" pitchFamily="34" charset="0"/>
                <a:ea typeface="Syne ExtraBold" pitchFamily="34" charset="-122"/>
                <a:cs typeface="Syne ExtraBold" pitchFamily="34" charset="-120"/>
              </a:rPr>
              <a:t>4</a:t>
            </a:r>
            <a:endParaRPr lang="en-US" sz="4250" dirty="0"/>
          </a:p>
        </p:txBody>
      </p:sp>
      <p:sp>
        <p:nvSpPr>
          <p:cNvPr id="10" name="Text 7"/>
          <p:cNvSpPr/>
          <p:nvPr/>
        </p:nvSpPr>
        <p:spPr>
          <a:xfrm>
            <a:off x="7401137" y="4105870"/>
            <a:ext cx="1961208" cy="516930"/>
          </a:xfrm>
          <a:prstGeom prst="rect">
            <a:avLst/>
          </a:prstGeom>
          <a:noFill/>
          <a:ln/>
        </p:spPr>
        <p:txBody>
          <a:bodyPr wrap="square" lIns="0" tIns="0" rIns="0" bIns="0" rtlCol="0" anchor="t">
            <a:normAutofit/>
          </a:bodyPr>
          <a:lstStyle/>
          <a:p>
            <a:pPr marL="0" indent="0" algn="ctr">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Weighted Signals</a:t>
            </a:r>
            <a:endParaRPr lang="en-US" sz="1600" dirty="0"/>
          </a:p>
        </p:txBody>
      </p:sp>
      <p:sp>
        <p:nvSpPr>
          <p:cNvPr id="11" name="Text 8"/>
          <p:cNvSpPr/>
          <p:nvPr/>
        </p:nvSpPr>
        <p:spPr>
          <a:xfrm>
            <a:off x="7401137" y="4722019"/>
            <a:ext cx="1961208" cy="529233"/>
          </a:xfrm>
          <a:prstGeom prst="rect">
            <a:avLst/>
          </a:prstGeom>
          <a:noFill/>
          <a:ln/>
        </p:spPr>
        <p:txBody>
          <a:bodyPr wrap="square" lIns="0" tIns="0" rIns="0" bIns="0" rtlCol="0" anchor="t">
            <a:normAutofit/>
          </a:bodyPr>
          <a:lstStyle/>
          <a:p>
            <a:pPr marL="0" indent="0" algn="ctr">
              <a:lnSpc>
                <a:spcPct val="133000"/>
              </a:lnSpc>
              <a:buNone/>
            </a:pPr>
            <a:r>
              <a:rPr lang="en-US" sz="1300" dirty="0">
                <a:solidFill>
                  <a:srgbClr val="D7E5D8"/>
                </a:solidFill>
                <a:latin typeface="Syne" pitchFamily="34" charset="0"/>
                <a:ea typeface="Syne" pitchFamily="34" charset="-122"/>
                <a:cs typeface="Syne" pitchFamily="34" charset="-120"/>
              </a:rPr>
              <a:t>Semantic, constraints, LLM, trajectory</a:t>
            </a:r>
            <a:endParaRPr lang="en-US" sz="1300" dirty="0"/>
          </a:p>
        </p:txBody>
      </p:sp>
      <p:sp>
        <p:nvSpPr>
          <p:cNvPr id="12" name="Text 9"/>
          <p:cNvSpPr/>
          <p:nvPr/>
        </p:nvSpPr>
        <p:spPr>
          <a:xfrm>
            <a:off x="9569012" y="3353395"/>
            <a:ext cx="1961109" cy="545802"/>
          </a:xfrm>
          <a:prstGeom prst="rect">
            <a:avLst/>
          </a:prstGeom>
          <a:noFill/>
          <a:ln/>
        </p:spPr>
        <p:txBody>
          <a:bodyPr wrap="none" lIns="0" tIns="0" rIns="0" bIns="0" rtlCol="0" anchor="t"/>
          <a:lstStyle/>
          <a:p>
            <a:pPr marL="0" indent="0" algn="ctr">
              <a:lnSpc>
                <a:spcPct val="83000"/>
              </a:lnSpc>
              <a:buNone/>
            </a:pPr>
            <a:r>
              <a:rPr lang="en-US" sz="4250" dirty="0">
                <a:solidFill>
                  <a:srgbClr val="D7E5D8"/>
                </a:solidFill>
                <a:latin typeface="Syne ExtraBold" pitchFamily="34" charset="0"/>
                <a:ea typeface="Syne ExtraBold" pitchFamily="34" charset="-122"/>
                <a:cs typeface="Syne ExtraBold" pitchFamily="34" charset="-120"/>
              </a:rPr>
              <a:t>2</a:t>
            </a:r>
            <a:endParaRPr lang="en-US" sz="4250" dirty="0"/>
          </a:p>
        </p:txBody>
      </p:sp>
      <p:sp>
        <p:nvSpPr>
          <p:cNvPr id="13" name="Text 10"/>
          <p:cNvSpPr/>
          <p:nvPr/>
        </p:nvSpPr>
        <p:spPr>
          <a:xfrm>
            <a:off x="9569012" y="4105870"/>
            <a:ext cx="1961109" cy="516930"/>
          </a:xfrm>
          <a:prstGeom prst="rect">
            <a:avLst/>
          </a:prstGeom>
          <a:noFill/>
          <a:ln/>
        </p:spPr>
        <p:txBody>
          <a:bodyPr wrap="square" lIns="0" tIns="0" rIns="0" bIns="0" rtlCol="0" anchor="t">
            <a:normAutofit/>
          </a:bodyPr>
          <a:lstStyle/>
          <a:p>
            <a:pPr marL="0" indent="0" algn="ctr">
              <a:lnSpc>
                <a:spcPct val="104000"/>
              </a:lnSpc>
              <a:buNone/>
            </a:pPr>
            <a:r>
              <a:rPr lang="en-US" sz="1600" dirty="0">
                <a:solidFill>
                  <a:srgbClr val="D7E5D8"/>
                </a:solidFill>
                <a:latin typeface="Syne ExtraBold" pitchFamily="34" charset="0"/>
                <a:ea typeface="Syne ExtraBold" pitchFamily="34" charset="-122"/>
                <a:cs typeface="Syne ExtraBold" pitchFamily="34" charset="-120"/>
              </a:rPr>
              <a:t>Operating Modes</a:t>
            </a:r>
            <a:endParaRPr lang="en-US" sz="1600" dirty="0"/>
          </a:p>
        </p:txBody>
      </p:sp>
      <p:sp>
        <p:nvSpPr>
          <p:cNvPr id="14" name="Text 11"/>
          <p:cNvSpPr/>
          <p:nvPr/>
        </p:nvSpPr>
        <p:spPr>
          <a:xfrm>
            <a:off x="9569012" y="4722019"/>
            <a:ext cx="1961109" cy="529233"/>
          </a:xfrm>
          <a:prstGeom prst="rect">
            <a:avLst/>
          </a:prstGeom>
          <a:noFill/>
          <a:ln/>
        </p:spPr>
        <p:txBody>
          <a:bodyPr wrap="square" lIns="0" tIns="0" rIns="0" bIns="0" rtlCol="0" anchor="t">
            <a:normAutofit/>
          </a:bodyPr>
          <a:lstStyle/>
          <a:p>
            <a:pPr marL="0" indent="0" algn="ctr">
              <a:lnSpc>
                <a:spcPct val="133000"/>
              </a:lnSpc>
              <a:buNone/>
            </a:pPr>
            <a:r>
              <a:rPr lang="en-US" sz="1300" dirty="0">
                <a:solidFill>
                  <a:srgbClr val="D7E5D8"/>
                </a:solidFill>
                <a:latin typeface="Syne" pitchFamily="34" charset="0"/>
                <a:ea typeface="Syne" pitchFamily="34" charset="-122"/>
                <a:cs typeface="Syne" pitchFamily="34" charset="-120"/>
              </a:rPr>
              <a:t>Dry-run with fallbacks + live with API</a:t>
            </a:r>
            <a:endParaRPr lang="en-US" sz="1300" dirty="0"/>
          </a:p>
        </p:txBody>
      </p:sp>
      <p:sp>
        <p:nvSpPr>
          <p:cNvPr id="15" name="Text 12"/>
          <p:cNvSpPr/>
          <p:nvPr/>
        </p:nvSpPr>
        <p:spPr>
          <a:xfrm>
            <a:off x="5233360" y="5437287"/>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7E5D8"/>
                </a:solidFill>
                <a:latin typeface="Syne" pitchFamily="34" charset="0"/>
                <a:ea typeface="Syne" pitchFamily="34" charset="-122"/>
                <a:cs typeface="Syne" pitchFamily="34" charset="-120"/>
              </a:rPr>
              <a:t>This dual-mode architecture makes the system useful across contexts — from local testing and demos to production-style evaluation against real recruiter outcomes.</a:t>
            </a:r>
            <a:endParaRPr lang="en-US" sz="1300" dirty="0"/>
          </a:p>
        </p:txBody>
      </p:sp>
      <p:pic>
        <p:nvPicPr>
          <p:cNvPr id="16" name="Picture 15">
            <a:extLst>
              <a:ext uri="{FF2B5EF4-FFF2-40B4-BE49-F238E27FC236}">
                <a16:creationId xmlns:a16="http://schemas.microsoft.com/office/drawing/2014/main" id="{387E5384-4D26-47BC-C545-A2C366866AE5}"/>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54819"/>
            <a:ext cx="414823" cy="128984"/>
          </a:xfrm>
          <a:prstGeom prst="roundRect">
            <a:avLst>
              <a:gd name="adj" fmla="val 21542"/>
            </a:avLst>
          </a:prstGeom>
          <a:solidFill>
            <a:srgbClr val="334805"/>
          </a:solidFill>
          <a:ln/>
        </p:spPr>
      </p:sp>
      <p:sp>
        <p:nvSpPr>
          <p:cNvPr id="3" name="Text 1"/>
          <p:cNvSpPr/>
          <p:nvPr/>
        </p:nvSpPr>
        <p:spPr>
          <a:xfrm>
            <a:off x="711083" y="479623"/>
            <a:ext cx="925192" cy="79375"/>
          </a:xfrm>
          <a:prstGeom prst="rect">
            <a:avLst/>
          </a:prstGeom>
          <a:noFill/>
          <a:ln/>
        </p:spPr>
        <p:txBody>
          <a:bodyPr wrap="none" lIns="0" tIns="0" rIns="0" bIns="0" rtlCol="0" anchor="t"/>
          <a:lstStyle/>
          <a:p>
            <a:pPr marL="0" indent="0" algn="l">
              <a:lnSpc>
                <a:spcPct val="100000"/>
              </a:lnSpc>
              <a:buNone/>
            </a:pPr>
            <a:r>
              <a:rPr lang="en-US" sz="500" dirty="0">
                <a:solidFill>
                  <a:srgbClr val="D7E5D8"/>
                </a:solidFill>
                <a:latin typeface="Syne" pitchFamily="34" charset="0"/>
                <a:ea typeface="Syne" pitchFamily="34" charset="-122"/>
                <a:cs typeface="Syne" pitchFamily="34" charset="-120"/>
              </a:rPr>
              <a:t>ROADMAP</a:t>
            </a:r>
            <a:endParaRPr lang="en-US" sz="500" dirty="0"/>
          </a:p>
        </p:txBody>
      </p:sp>
      <p:sp>
        <p:nvSpPr>
          <p:cNvPr id="4" name="Text 2"/>
          <p:cNvSpPr/>
          <p:nvPr/>
        </p:nvSpPr>
        <p:spPr>
          <a:xfrm>
            <a:off x="661475" y="600273"/>
            <a:ext cx="5326128" cy="206673"/>
          </a:xfrm>
          <a:prstGeom prst="rect">
            <a:avLst/>
          </a:prstGeom>
          <a:noFill/>
          <a:ln/>
        </p:spPr>
        <p:txBody>
          <a:bodyPr wrap="none" lIns="0" tIns="0" rIns="0" bIns="0" rtlCol="0" anchor="t"/>
          <a:lstStyle/>
          <a:p>
            <a:pPr marL="0" indent="0" algn="l">
              <a:lnSpc>
                <a:spcPct val="104000"/>
              </a:lnSpc>
              <a:buNone/>
            </a:pPr>
            <a:r>
              <a:rPr lang="en-US" sz="1300" dirty="0">
                <a:solidFill>
                  <a:srgbClr val="F0F4F1"/>
                </a:solidFill>
                <a:latin typeface="Syne ExtraBold" pitchFamily="34" charset="0"/>
                <a:ea typeface="Syne ExtraBold" pitchFamily="34" charset="-122"/>
                <a:cs typeface="Syne ExtraBold" pitchFamily="34" charset="-120"/>
              </a:rPr>
              <a:t>What's Next — Calibration and Scale</a:t>
            </a:r>
            <a:endParaRPr lang="en-US" sz="1300" dirty="0"/>
          </a:p>
        </p:txBody>
      </p:sp>
      <p:sp>
        <p:nvSpPr>
          <p:cNvPr id="5" name="Text 3"/>
          <p:cNvSpPr/>
          <p:nvPr/>
        </p:nvSpPr>
        <p:spPr>
          <a:xfrm>
            <a:off x="661475" y="868958"/>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D7E5D8"/>
                </a:solidFill>
                <a:latin typeface="Syne" pitchFamily="34" charset="0"/>
                <a:ea typeface="Syne" pitchFamily="34" charset="-122"/>
                <a:cs typeface="Syne" pitchFamily="34" charset="-120"/>
              </a:rPr>
              <a:t>The current system is a strong foundation. The roadmap focuses on closing the feedback loop, personalizing scoring, and driving down cost per run.</a:t>
            </a:r>
            <a:endParaRPr lang="en-US" sz="650" dirty="0"/>
          </a:p>
        </p:txBody>
      </p:sp>
      <p:pic>
        <p:nvPicPr>
          <p:cNvPr id="6" name="Image 0" descr="preencoded.png"/>
          <p:cNvPicPr>
            <a:picLocks noChangeAspect="1"/>
          </p:cNvPicPr>
          <p:nvPr/>
        </p:nvPicPr>
        <p:blipFill>
          <a:blip r:embed="rId3"/>
          <a:stretch>
            <a:fillRect/>
          </a:stretch>
        </p:blipFill>
        <p:spPr>
          <a:xfrm>
            <a:off x="661475" y="1014512"/>
            <a:ext cx="9753356" cy="5486400"/>
          </a:xfrm>
          <a:prstGeom prst="rect">
            <a:avLst/>
          </a:prstGeom>
        </p:spPr>
      </p:pic>
      <p:pic>
        <p:nvPicPr>
          <p:cNvPr id="7" name="Picture 6">
            <a:extLst>
              <a:ext uri="{FF2B5EF4-FFF2-40B4-BE49-F238E27FC236}">
                <a16:creationId xmlns:a16="http://schemas.microsoft.com/office/drawing/2014/main" id="{25CC13B0-47C3-2E7A-A81F-9DD634E181F0}"/>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98996"/>
            <a:ext cx="2617127" cy="206673"/>
          </a:xfrm>
          <a:prstGeom prst="rect">
            <a:avLst/>
          </a:prstGeom>
          <a:noFill/>
          <a:ln/>
        </p:spPr>
        <p:txBody>
          <a:bodyPr wrap="none" lIns="0" tIns="0" rIns="0" bIns="0" rtlCol="0" anchor="t"/>
          <a:lstStyle/>
          <a:p>
            <a:pPr marL="0" indent="0" algn="l">
              <a:lnSpc>
                <a:spcPct val="104000"/>
              </a:lnSpc>
              <a:buNone/>
            </a:pPr>
            <a:r>
              <a:rPr lang="en-US" sz="1300" dirty="0">
                <a:solidFill>
                  <a:srgbClr val="F0F4F1"/>
                </a:solidFill>
                <a:latin typeface="Syne ExtraBold" pitchFamily="34" charset="0"/>
                <a:ea typeface="Syne ExtraBold" pitchFamily="34" charset="-122"/>
                <a:cs typeface="Syne ExtraBold" pitchFamily="34" charset="-120"/>
              </a:rPr>
              <a:t>Sample Output</a:t>
            </a:r>
            <a:endParaRPr lang="en-US" sz="1300" dirty="0"/>
          </a:p>
        </p:txBody>
      </p:sp>
      <p:sp>
        <p:nvSpPr>
          <p:cNvPr id="3" name="Text 1"/>
          <p:cNvSpPr/>
          <p:nvPr/>
        </p:nvSpPr>
        <p:spPr>
          <a:xfrm>
            <a:off x="661475" y="947936"/>
            <a:ext cx="7885014" cy="330696"/>
          </a:xfrm>
          <a:prstGeom prst="rect">
            <a:avLst/>
          </a:prstGeom>
          <a:noFill/>
          <a:ln/>
        </p:spPr>
        <p:txBody>
          <a:bodyPr wrap="none" lIns="0" tIns="0" rIns="0" bIns="0" rtlCol="0" anchor="t"/>
          <a:lstStyle/>
          <a:p>
            <a:pPr marL="0" indent="0" algn="l">
              <a:lnSpc>
                <a:spcPct val="104000"/>
              </a:lnSpc>
              <a:buNone/>
            </a:pPr>
            <a:r>
              <a:rPr lang="en-US" sz="2050" dirty="0">
                <a:solidFill>
                  <a:srgbClr val="F0F4F1"/>
                </a:solidFill>
                <a:latin typeface="Syne ExtraBold" pitchFamily="34" charset="0"/>
                <a:ea typeface="Syne ExtraBold" pitchFamily="34" charset="-122"/>
                <a:cs typeface="Syne ExtraBold" pitchFamily="34" charset="-120"/>
              </a:rPr>
              <a:t>Top Candidates — Ranked Shortlist</a:t>
            </a:r>
            <a:endParaRPr lang="en-US" sz="2050" dirty="0"/>
          </a:p>
        </p:txBody>
      </p:sp>
      <p:sp>
        <p:nvSpPr>
          <p:cNvPr id="4" name="Text 2"/>
          <p:cNvSpPr/>
          <p:nvPr/>
        </p:nvSpPr>
        <p:spPr>
          <a:xfrm>
            <a:off x="661475" y="1437382"/>
            <a:ext cx="10868745"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Sample results from a dry-run ranking of the candidate pool. Scores reflect the composite of all four weighted signals. Candidates within a 0.01–0.02 range are statistically tied — recruiter judgment drives the final selection.</a:t>
            </a:r>
            <a:endParaRPr lang="en-US" sz="1000" dirty="0"/>
          </a:p>
        </p:txBody>
      </p:sp>
      <p:sp>
        <p:nvSpPr>
          <p:cNvPr id="5" name="Shape 3"/>
          <p:cNvSpPr/>
          <p:nvPr/>
        </p:nvSpPr>
        <p:spPr>
          <a:xfrm>
            <a:off x="661475" y="1937445"/>
            <a:ext cx="10868745" cy="3644900"/>
          </a:xfrm>
          <a:prstGeom prst="roundRect">
            <a:avLst>
              <a:gd name="adj" fmla="val 1525"/>
            </a:avLst>
          </a:prstGeom>
          <a:noFill/>
          <a:ln w="6350">
            <a:solidFill>
              <a:srgbClr val="FFFFFF">
                <a:alpha val="24000"/>
              </a:srgbClr>
            </a:solidFill>
            <a:prstDash val="solid"/>
          </a:ln>
        </p:spPr>
      </p:sp>
      <p:sp>
        <p:nvSpPr>
          <p:cNvPr id="6" name="Shape 4"/>
          <p:cNvSpPr/>
          <p:nvPr/>
        </p:nvSpPr>
        <p:spPr>
          <a:xfrm>
            <a:off x="667825" y="1943795"/>
            <a:ext cx="10856046" cy="330200"/>
          </a:xfrm>
          <a:prstGeom prst="rect">
            <a:avLst/>
          </a:prstGeom>
          <a:solidFill>
            <a:srgbClr val="FFFFFF">
              <a:alpha val="4000"/>
            </a:srgbClr>
          </a:solidFill>
          <a:ln/>
        </p:spPr>
      </p:sp>
      <p:sp>
        <p:nvSpPr>
          <p:cNvPr id="7" name="Text 5"/>
          <p:cNvSpPr/>
          <p:nvPr/>
        </p:nvSpPr>
        <p:spPr>
          <a:xfrm>
            <a:off x="800179" y="20136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Rank</a:t>
            </a:r>
            <a:endParaRPr lang="en-US" sz="1000" dirty="0"/>
          </a:p>
        </p:txBody>
      </p:sp>
      <p:sp>
        <p:nvSpPr>
          <p:cNvPr id="8" name="Text 6"/>
          <p:cNvSpPr/>
          <p:nvPr/>
        </p:nvSpPr>
        <p:spPr>
          <a:xfrm>
            <a:off x="2431692" y="20136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Candidate ID</a:t>
            </a:r>
            <a:endParaRPr lang="en-US" sz="1000" dirty="0"/>
          </a:p>
        </p:txBody>
      </p:sp>
      <p:sp>
        <p:nvSpPr>
          <p:cNvPr id="9" name="Text 7"/>
          <p:cNvSpPr/>
          <p:nvPr/>
        </p:nvSpPr>
        <p:spPr>
          <a:xfrm>
            <a:off x="6774090" y="2013645"/>
            <a:ext cx="5227110"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Composite Score</a:t>
            </a:r>
            <a:endParaRPr lang="en-US" sz="1000" dirty="0"/>
          </a:p>
        </p:txBody>
      </p:sp>
      <p:sp>
        <p:nvSpPr>
          <p:cNvPr id="10" name="Shape 8"/>
          <p:cNvSpPr/>
          <p:nvPr/>
        </p:nvSpPr>
        <p:spPr>
          <a:xfrm>
            <a:off x="667825" y="2273995"/>
            <a:ext cx="10856046" cy="330200"/>
          </a:xfrm>
          <a:prstGeom prst="rect">
            <a:avLst/>
          </a:prstGeom>
          <a:solidFill>
            <a:srgbClr val="000000">
              <a:alpha val="4000"/>
            </a:srgbClr>
          </a:solidFill>
          <a:ln/>
        </p:spPr>
      </p:sp>
      <p:sp>
        <p:nvSpPr>
          <p:cNvPr id="11" name="Text 9"/>
          <p:cNvSpPr/>
          <p:nvPr/>
        </p:nvSpPr>
        <p:spPr>
          <a:xfrm>
            <a:off x="800179" y="23438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1</a:t>
            </a:r>
            <a:endParaRPr lang="en-US" sz="1000" dirty="0"/>
          </a:p>
        </p:txBody>
      </p:sp>
      <p:sp>
        <p:nvSpPr>
          <p:cNvPr id="12" name="Text 10"/>
          <p:cNvSpPr/>
          <p:nvPr/>
        </p:nvSpPr>
        <p:spPr>
          <a:xfrm>
            <a:off x="2431692" y="23438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CAND_0055905</a:t>
            </a:r>
            <a:endParaRPr lang="en-US" sz="1000" dirty="0"/>
          </a:p>
        </p:txBody>
      </p:sp>
      <p:sp>
        <p:nvSpPr>
          <p:cNvPr id="13" name="Text 11"/>
          <p:cNvSpPr/>
          <p:nvPr/>
        </p:nvSpPr>
        <p:spPr>
          <a:xfrm>
            <a:off x="6774090" y="23438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0.6159</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14" name="Shape 12"/>
          <p:cNvSpPr/>
          <p:nvPr/>
        </p:nvSpPr>
        <p:spPr>
          <a:xfrm>
            <a:off x="667825" y="2604195"/>
            <a:ext cx="10856046" cy="330200"/>
          </a:xfrm>
          <a:prstGeom prst="rect">
            <a:avLst/>
          </a:prstGeom>
          <a:solidFill>
            <a:srgbClr val="FFFFFF">
              <a:alpha val="4000"/>
            </a:srgbClr>
          </a:solidFill>
          <a:ln/>
        </p:spPr>
      </p:sp>
      <p:sp>
        <p:nvSpPr>
          <p:cNvPr id="15" name="Text 13"/>
          <p:cNvSpPr/>
          <p:nvPr/>
        </p:nvSpPr>
        <p:spPr>
          <a:xfrm>
            <a:off x="800179" y="26740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2</a:t>
            </a:r>
            <a:endParaRPr lang="en-US" sz="1000" dirty="0"/>
          </a:p>
        </p:txBody>
      </p:sp>
      <p:sp>
        <p:nvSpPr>
          <p:cNvPr id="16" name="Text 14"/>
          <p:cNvSpPr/>
          <p:nvPr/>
        </p:nvSpPr>
        <p:spPr>
          <a:xfrm>
            <a:off x="2431692" y="26740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CAND_0005260</a:t>
            </a:r>
            <a:endParaRPr lang="en-US" sz="1000" dirty="0"/>
          </a:p>
        </p:txBody>
      </p:sp>
      <p:sp>
        <p:nvSpPr>
          <p:cNvPr id="17" name="Text 15"/>
          <p:cNvSpPr/>
          <p:nvPr/>
        </p:nvSpPr>
        <p:spPr>
          <a:xfrm>
            <a:off x="6774090" y="26740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0.6053</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18" name="Shape 16"/>
          <p:cNvSpPr/>
          <p:nvPr/>
        </p:nvSpPr>
        <p:spPr>
          <a:xfrm>
            <a:off x="667825" y="2934395"/>
            <a:ext cx="10856046" cy="330200"/>
          </a:xfrm>
          <a:prstGeom prst="rect">
            <a:avLst/>
          </a:prstGeom>
          <a:solidFill>
            <a:srgbClr val="000000">
              <a:alpha val="4000"/>
            </a:srgbClr>
          </a:solidFill>
          <a:ln/>
        </p:spPr>
      </p:sp>
      <p:sp>
        <p:nvSpPr>
          <p:cNvPr id="19" name="Text 17"/>
          <p:cNvSpPr/>
          <p:nvPr/>
        </p:nvSpPr>
        <p:spPr>
          <a:xfrm>
            <a:off x="800179" y="30042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3</a:t>
            </a:r>
            <a:endParaRPr lang="en-US" sz="1000" dirty="0"/>
          </a:p>
        </p:txBody>
      </p:sp>
      <p:sp>
        <p:nvSpPr>
          <p:cNvPr id="20" name="Text 18"/>
          <p:cNvSpPr/>
          <p:nvPr/>
        </p:nvSpPr>
        <p:spPr>
          <a:xfrm>
            <a:off x="2431692" y="30042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CAND_0072660</a:t>
            </a:r>
            <a:endParaRPr lang="en-US" sz="1000" dirty="0"/>
          </a:p>
        </p:txBody>
      </p:sp>
      <p:sp>
        <p:nvSpPr>
          <p:cNvPr id="21" name="Text 19"/>
          <p:cNvSpPr/>
          <p:nvPr/>
        </p:nvSpPr>
        <p:spPr>
          <a:xfrm>
            <a:off x="6774090" y="30042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0.5947</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22" name="Shape 20"/>
          <p:cNvSpPr/>
          <p:nvPr/>
        </p:nvSpPr>
        <p:spPr>
          <a:xfrm>
            <a:off x="667825" y="3264595"/>
            <a:ext cx="10856046" cy="330200"/>
          </a:xfrm>
          <a:prstGeom prst="rect">
            <a:avLst/>
          </a:prstGeom>
          <a:solidFill>
            <a:srgbClr val="FFFFFF">
              <a:alpha val="4000"/>
            </a:srgbClr>
          </a:solidFill>
          <a:ln/>
        </p:spPr>
      </p:sp>
      <p:sp>
        <p:nvSpPr>
          <p:cNvPr id="23" name="Text 21"/>
          <p:cNvSpPr/>
          <p:nvPr/>
        </p:nvSpPr>
        <p:spPr>
          <a:xfrm>
            <a:off x="800179" y="33344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4</a:t>
            </a:r>
            <a:endParaRPr lang="en-US" sz="1000" dirty="0"/>
          </a:p>
        </p:txBody>
      </p:sp>
      <p:sp>
        <p:nvSpPr>
          <p:cNvPr id="24" name="Text 22"/>
          <p:cNvSpPr/>
          <p:nvPr/>
        </p:nvSpPr>
        <p:spPr>
          <a:xfrm>
            <a:off x="2431692" y="33344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CAND_0005649</a:t>
            </a:r>
            <a:endParaRPr lang="en-US" sz="1000" dirty="0"/>
          </a:p>
        </p:txBody>
      </p:sp>
      <p:sp>
        <p:nvSpPr>
          <p:cNvPr id="25" name="Text 23"/>
          <p:cNvSpPr/>
          <p:nvPr/>
        </p:nvSpPr>
        <p:spPr>
          <a:xfrm>
            <a:off x="6774090" y="33344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0.5944</a:t>
            </a:r>
            <a:endParaRPr lang="en-US" sz="1000" dirty="0"/>
          </a:p>
        </p:txBody>
      </p:sp>
      <p:sp>
        <p:nvSpPr>
          <p:cNvPr id="26" name="Shape 24"/>
          <p:cNvSpPr/>
          <p:nvPr/>
        </p:nvSpPr>
        <p:spPr>
          <a:xfrm>
            <a:off x="667825" y="3594795"/>
            <a:ext cx="10856046" cy="330200"/>
          </a:xfrm>
          <a:prstGeom prst="rect">
            <a:avLst/>
          </a:prstGeom>
          <a:solidFill>
            <a:srgbClr val="000000">
              <a:alpha val="4000"/>
            </a:srgbClr>
          </a:solidFill>
          <a:ln/>
        </p:spPr>
      </p:sp>
      <p:sp>
        <p:nvSpPr>
          <p:cNvPr id="27" name="Text 25"/>
          <p:cNvSpPr/>
          <p:nvPr/>
        </p:nvSpPr>
        <p:spPr>
          <a:xfrm>
            <a:off x="800179" y="36646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5</a:t>
            </a:r>
            <a:endParaRPr lang="en-US" sz="1000" dirty="0"/>
          </a:p>
        </p:txBody>
      </p:sp>
      <p:sp>
        <p:nvSpPr>
          <p:cNvPr id="28" name="Text 26"/>
          <p:cNvSpPr/>
          <p:nvPr/>
        </p:nvSpPr>
        <p:spPr>
          <a:xfrm>
            <a:off x="2431692" y="36646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CAND_0070525</a:t>
            </a:r>
            <a:endParaRPr lang="en-US" sz="1000" dirty="0"/>
          </a:p>
        </p:txBody>
      </p:sp>
      <p:sp>
        <p:nvSpPr>
          <p:cNvPr id="29" name="Text 27"/>
          <p:cNvSpPr/>
          <p:nvPr/>
        </p:nvSpPr>
        <p:spPr>
          <a:xfrm>
            <a:off x="6774090" y="36646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0.5937</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30" name="Shape 28"/>
          <p:cNvSpPr/>
          <p:nvPr/>
        </p:nvSpPr>
        <p:spPr>
          <a:xfrm>
            <a:off x="667825" y="3924995"/>
            <a:ext cx="10856046" cy="330200"/>
          </a:xfrm>
          <a:prstGeom prst="rect">
            <a:avLst/>
          </a:prstGeom>
          <a:solidFill>
            <a:srgbClr val="FFFFFF">
              <a:alpha val="4000"/>
            </a:srgbClr>
          </a:solidFill>
          <a:ln/>
        </p:spPr>
      </p:sp>
      <p:sp>
        <p:nvSpPr>
          <p:cNvPr id="31" name="Text 29"/>
          <p:cNvSpPr/>
          <p:nvPr/>
        </p:nvSpPr>
        <p:spPr>
          <a:xfrm>
            <a:off x="800179" y="39948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6</a:t>
            </a:r>
            <a:endParaRPr lang="en-US" sz="1000" dirty="0"/>
          </a:p>
        </p:txBody>
      </p:sp>
      <p:sp>
        <p:nvSpPr>
          <p:cNvPr id="32" name="Text 30"/>
          <p:cNvSpPr/>
          <p:nvPr/>
        </p:nvSpPr>
        <p:spPr>
          <a:xfrm>
            <a:off x="2431692" y="39948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CAND_0045250</a:t>
            </a:r>
            <a:endParaRPr lang="en-US" sz="1000" dirty="0"/>
          </a:p>
        </p:txBody>
      </p:sp>
      <p:sp>
        <p:nvSpPr>
          <p:cNvPr id="33" name="Text 31"/>
          <p:cNvSpPr/>
          <p:nvPr/>
        </p:nvSpPr>
        <p:spPr>
          <a:xfrm>
            <a:off x="6774090" y="39948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0.5935</a:t>
            </a:r>
            <a:endParaRPr lang="en-US" sz="1000" dirty="0"/>
          </a:p>
        </p:txBody>
      </p:sp>
      <p:sp>
        <p:nvSpPr>
          <p:cNvPr id="34" name="Shape 32"/>
          <p:cNvSpPr/>
          <p:nvPr/>
        </p:nvSpPr>
        <p:spPr>
          <a:xfrm>
            <a:off x="667825" y="4255195"/>
            <a:ext cx="10856046" cy="330200"/>
          </a:xfrm>
          <a:prstGeom prst="rect">
            <a:avLst/>
          </a:prstGeom>
          <a:solidFill>
            <a:srgbClr val="000000">
              <a:alpha val="4000"/>
            </a:srgbClr>
          </a:solidFill>
          <a:ln/>
        </p:spPr>
      </p:sp>
      <p:sp>
        <p:nvSpPr>
          <p:cNvPr id="35" name="Text 33"/>
          <p:cNvSpPr/>
          <p:nvPr/>
        </p:nvSpPr>
        <p:spPr>
          <a:xfrm>
            <a:off x="800179" y="43250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7</a:t>
            </a:r>
            <a:endParaRPr lang="en-US" sz="1000" dirty="0"/>
          </a:p>
        </p:txBody>
      </p:sp>
      <p:sp>
        <p:nvSpPr>
          <p:cNvPr id="36" name="Text 34"/>
          <p:cNvSpPr/>
          <p:nvPr/>
        </p:nvSpPr>
        <p:spPr>
          <a:xfrm>
            <a:off x="2431692" y="43250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CAND_0065501</a:t>
            </a:r>
            <a:endParaRPr lang="en-US" sz="1000" dirty="0"/>
          </a:p>
        </p:txBody>
      </p:sp>
      <p:sp>
        <p:nvSpPr>
          <p:cNvPr id="37" name="Text 35"/>
          <p:cNvSpPr/>
          <p:nvPr/>
        </p:nvSpPr>
        <p:spPr>
          <a:xfrm>
            <a:off x="6774090" y="43250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0.5933</a:t>
            </a:r>
            <a:endParaRPr lang="en-US" sz="1000" dirty="0"/>
          </a:p>
        </p:txBody>
      </p:sp>
      <p:sp>
        <p:nvSpPr>
          <p:cNvPr id="38" name="Shape 36"/>
          <p:cNvSpPr/>
          <p:nvPr/>
        </p:nvSpPr>
        <p:spPr>
          <a:xfrm>
            <a:off x="667825" y="4585395"/>
            <a:ext cx="10856046" cy="330200"/>
          </a:xfrm>
          <a:prstGeom prst="rect">
            <a:avLst/>
          </a:prstGeom>
          <a:solidFill>
            <a:srgbClr val="FFFFFF">
              <a:alpha val="4000"/>
            </a:srgbClr>
          </a:solidFill>
          <a:ln/>
        </p:spPr>
      </p:sp>
      <p:sp>
        <p:nvSpPr>
          <p:cNvPr id="39" name="Text 37"/>
          <p:cNvSpPr/>
          <p:nvPr/>
        </p:nvSpPr>
        <p:spPr>
          <a:xfrm>
            <a:off x="800179" y="46552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8</a:t>
            </a:r>
            <a:endParaRPr lang="en-US" sz="1000" dirty="0"/>
          </a:p>
        </p:txBody>
      </p:sp>
      <p:sp>
        <p:nvSpPr>
          <p:cNvPr id="40" name="Text 38"/>
          <p:cNvSpPr/>
          <p:nvPr/>
        </p:nvSpPr>
        <p:spPr>
          <a:xfrm>
            <a:off x="2431692" y="46552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CAND_0011687</a:t>
            </a:r>
            <a:endParaRPr lang="en-US" sz="1000" dirty="0"/>
          </a:p>
        </p:txBody>
      </p:sp>
      <p:sp>
        <p:nvSpPr>
          <p:cNvPr id="41" name="Text 39"/>
          <p:cNvSpPr/>
          <p:nvPr/>
        </p:nvSpPr>
        <p:spPr>
          <a:xfrm>
            <a:off x="6774090" y="46552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0.5924</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42" name="Shape 40"/>
          <p:cNvSpPr/>
          <p:nvPr/>
        </p:nvSpPr>
        <p:spPr>
          <a:xfrm>
            <a:off x="667825" y="4915595"/>
            <a:ext cx="10856046" cy="330200"/>
          </a:xfrm>
          <a:prstGeom prst="rect">
            <a:avLst/>
          </a:prstGeom>
          <a:solidFill>
            <a:srgbClr val="000000">
              <a:alpha val="4000"/>
            </a:srgbClr>
          </a:solidFill>
          <a:ln/>
        </p:spPr>
      </p:sp>
      <p:sp>
        <p:nvSpPr>
          <p:cNvPr id="43" name="Text 41"/>
          <p:cNvSpPr/>
          <p:nvPr/>
        </p:nvSpPr>
        <p:spPr>
          <a:xfrm>
            <a:off x="800179" y="49854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9</a:t>
            </a:r>
            <a:endParaRPr lang="en-US" sz="1000" dirty="0"/>
          </a:p>
        </p:txBody>
      </p:sp>
      <p:sp>
        <p:nvSpPr>
          <p:cNvPr id="44" name="Text 42"/>
          <p:cNvSpPr/>
          <p:nvPr/>
        </p:nvSpPr>
        <p:spPr>
          <a:xfrm>
            <a:off x="2431692" y="49854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CAND_0094759</a:t>
            </a:r>
            <a:endParaRPr lang="en-US" sz="1000" dirty="0"/>
          </a:p>
        </p:txBody>
      </p:sp>
      <p:sp>
        <p:nvSpPr>
          <p:cNvPr id="45" name="Text 43"/>
          <p:cNvSpPr/>
          <p:nvPr/>
        </p:nvSpPr>
        <p:spPr>
          <a:xfrm>
            <a:off x="6774090" y="49854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0.5919</a:t>
            </a:r>
            <a:endParaRPr lang="en-US" sz="1000" dirty="0"/>
          </a:p>
        </p:txBody>
      </p:sp>
      <p:sp>
        <p:nvSpPr>
          <p:cNvPr id="46" name="Shape 44"/>
          <p:cNvSpPr/>
          <p:nvPr/>
        </p:nvSpPr>
        <p:spPr>
          <a:xfrm>
            <a:off x="667825" y="5245795"/>
            <a:ext cx="10856046" cy="330200"/>
          </a:xfrm>
          <a:prstGeom prst="rect">
            <a:avLst/>
          </a:prstGeom>
          <a:solidFill>
            <a:srgbClr val="FFFFFF">
              <a:alpha val="4000"/>
            </a:srgbClr>
          </a:solidFill>
          <a:ln/>
        </p:spPr>
      </p:sp>
      <p:sp>
        <p:nvSpPr>
          <p:cNvPr id="47" name="Text 45"/>
          <p:cNvSpPr/>
          <p:nvPr/>
        </p:nvSpPr>
        <p:spPr>
          <a:xfrm>
            <a:off x="800179" y="5315645"/>
            <a:ext cx="1970237"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10</a:t>
            </a:r>
            <a:endParaRPr lang="en-US" sz="1000" dirty="0"/>
          </a:p>
        </p:txBody>
      </p:sp>
      <p:sp>
        <p:nvSpPr>
          <p:cNvPr id="48" name="Text 46"/>
          <p:cNvSpPr/>
          <p:nvPr/>
        </p:nvSpPr>
        <p:spPr>
          <a:xfrm>
            <a:off x="2431692" y="5315645"/>
            <a:ext cx="4681123" cy="190500"/>
          </a:xfrm>
          <a:prstGeom prst="rect">
            <a:avLst/>
          </a:prstGeom>
          <a:noFill/>
          <a:ln/>
        </p:spPr>
        <p:txBody>
          <a:bodyPr wrap="none" lIns="0" tIns="0" rIns="0" bIns="0" rtlCol="0" anchor="t"/>
          <a:lstStyle/>
          <a:p>
            <a:pPr marL="0" indent="0" algn="l">
              <a:lnSpc>
                <a:spcPct val="120000"/>
              </a:lnSpc>
              <a:buNone/>
            </a:pPr>
            <a:r>
              <a:rPr lang="en-US" sz="1000" dirty="0">
                <a:solidFill>
                  <a:srgbClr val="D7E5D8"/>
                </a:solidFill>
                <a:latin typeface="Syne" pitchFamily="34" charset="0"/>
                <a:ea typeface="Syne" pitchFamily="34" charset="-122"/>
                <a:cs typeface="Syne" pitchFamily="34" charset="-120"/>
              </a:rPr>
              <a:t>CAND_0081846</a:t>
            </a:r>
            <a:endParaRPr lang="en-US" sz="1000" dirty="0"/>
          </a:p>
        </p:txBody>
      </p:sp>
      <p:sp>
        <p:nvSpPr>
          <p:cNvPr id="49" name="Text 47"/>
          <p:cNvSpPr/>
          <p:nvPr/>
        </p:nvSpPr>
        <p:spPr>
          <a:xfrm>
            <a:off x="6774090" y="5315645"/>
            <a:ext cx="5227110" cy="190500"/>
          </a:xfrm>
          <a:prstGeom prst="rect">
            <a:avLst/>
          </a:prstGeom>
          <a:noFill/>
          <a:ln/>
        </p:spPr>
        <p:txBody>
          <a:bodyPr wrap="none" lIns="0" tIns="0" rIns="0" bIns="0" rtlCol="0" anchor="t"/>
          <a:lstStyle/>
          <a:p>
            <a:pPr marL="0" indent="0" algn="l">
              <a:lnSpc>
                <a:spcPct val="120000"/>
              </a:lnSpc>
              <a:buNone/>
            </a:pPr>
            <a:r>
              <a:rPr lang="en-US" sz="1000" b="1" dirty="0">
                <a:solidFill>
                  <a:srgbClr val="D7E5D8"/>
                </a:solidFill>
                <a:latin typeface="Syne Bold" pitchFamily="34" charset="0"/>
                <a:ea typeface="Syne Bold" pitchFamily="34" charset="-122"/>
                <a:cs typeface="Syne Bold" pitchFamily="34" charset="-120"/>
              </a:rPr>
              <a:t>0.5916</a:t>
            </a:r>
            <a:r>
              <a:rPr lang="en-US" sz="1000" dirty="0">
                <a:solidFill>
                  <a:srgbClr val="D7E5D8"/>
                </a:solidFill>
                <a:latin typeface="Syne" pitchFamily="34" charset="0"/>
                <a:ea typeface="Syne" pitchFamily="34" charset="-122"/>
                <a:cs typeface="Syne" pitchFamily="34" charset="-120"/>
              </a:rPr>
              <a:t> — Dry run mode</a:t>
            </a:r>
            <a:endParaRPr lang="en-US" sz="1000" dirty="0"/>
          </a:p>
        </p:txBody>
      </p:sp>
      <p:sp>
        <p:nvSpPr>
          <p:cNvPr id="50" name="Shape 48"/>
          <p:cNvSpPr/>
          <p:nvPr/>
        </p:nvSpPr>
        <p:spPr>
          <a:xfrm>
            <a:off x="661475" y="5701407"/>
            <a:ext cx="10868745" cy="457597"/>
          </a:xfrm>
          <a:prstGeom prst="roundRect">
            <a:avLst>
              <a:gd name="adj" fmla="val 12144"/>
            </a:avLst>
          </a:prstGeom>
          <a:solidFill>
            <a:srgbClr val="547808"/>
          </a:solidFill>
          <a:ln/>
        </p:spPr>
      </p:sp>
      <p:pic>
        <p:nvPicPr>
          <p:cNvPr id="51" name="Image 0" descr="preencoded.png"/>
          <p:cNvPicPr>
            <a:picLocks noChangeAspect="1"/>
          </p:cNvPicPr>
          <p:nvPr/>
        </p:nvPicPr>
        <p:blipFill>
          <a:blip r:embed="rId3"/>
          <a:stretch>
            <a:fillRect/>
          </a:stretch>
        </p:blipFill>
        <p:spPr>
          <a:xfrm>
            <a:off x="793730" y="5884267"/>
            <a:ext cx="165294" cy="132259"/>
          </a:xfrm>
          <a:prstGeom prst="rect">
            <a:avLst/>
          </a:prstGeom>
        </p:spPr>
      </p:pic>
      <p:sp>
        <p:nvSpPr>
          <p:cNvPr id="52" name="Text 49"/>
          <p:cNvSpPr/>
          <p:nvPr/>
        </p:nvSpPr>
        <p:spPr>
          <a:xfrm>
            <a:off x="1091280" y="5840214"/>
            <a:ext cx="10916270" cy="190500"/>
          </a:xfrm>
          <a:prstGeom prst="rect">
            <a:avLst/>
          </a:prstGeom>
          <a:noFill/>
          <a:ln/>
        </p:spPr>
        <p:txBody>
          <a:bodyPr wrap="none" lIns="0" tIns="0" rIns="0" bIns="0" rtlCol="0" anchor="t"/>
          <a:lstStyle/>
          <a:p>
            <a:pPr marL="0" indent="0" algn="l">
              <a:lnSpc>
                <a:spcPct val="120000"/>
              </a:lnSpc>
              <a:buNone/>
            </a:pPr>
            <a:r>
              <a:rPr lang="en-US" sz="1000" dirty="0">
                <a:solidFill>
                  <a:srgbClr val="FFFFFF"/>
                </a:solidFill>
                <a:latin typeface="Syne" pitchFamily="34" charset="0"/>
                <a:ea typeface="Syne" pitchFamily="34" charset="-122"/>
                <a:cs typeface="Syne" pitchFamily="34" charset="-120"/>
              </a:rPr>
              <a:t>Scores in dry-run mode use deterministic fallbacks for the LLM signal. Live mode with Anthropic API scoring may shift rankings within the tied band — the top tier remains stable.</a:t>
            </a:r>
            <a:endParaRPr lang="en-US" sz="1000" dirty="0"/>
          </a:p>
        </p:txBody>
      </p:sp>
      <p:pic>
        <p:nvPicPr>
          <p:cNvPr id="53" name="Picture 52">
            <a:extLst>
              <a:ext uri="{FF2B5EF4-FFF2-40B4-BE49-F238E27FC236}">
                <a16:creationId xmlns:a16="http://schemas.microsoft.com/office/drawing/2014/main" id="{083A33CC-926D-6A5F-0273-41B5E3969C75}"/>
              </a:ext>
            </a:extLst>
          </p:cNvPr>
          <p:cNvPicPr>
            <a:picLocks noChangeAspect="1"/>
          </p:cNvPicPr>
          <p:nvPr/>
        </p:nvPicPr>
        <p:blipFill>
          <a:blip r:embed="rId4"/>
          <a:stretch>
            <a:fillRect/>
          </a:stretch>
        </p:blipFill>
        <p:spPr>
          <a:xfrm>
            <a:off x="10951050" y="6511671"/>
            <a:ext cx="1158340" cy="3463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1138</Words>
  <Application>Microsoft Office PowerPoint</Application>
  <PresentationFormat>Widescreen</PresentationFormat>
  <Paragraphs>137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Syne ExtraBold</vt:lpstr>
      <vt:lpstr>Arial</vt:lpstr>
      <vt:lpstr>Syne</vt:lpstr>
      <vt:lpstr>Syne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Dhanush Shetty</cp:lastModifiedBy>
  <cp:revision>4</cp:revision>
  <dcterms:created xsi:type="dcterms:W3CDTF">2026-07-01T07:09:11Z</dcterms:created>
  <dcterms:modified xsi:type="dcterms:W3CDTF">2026-07-01T07:12:03Z</dcterms:modified>
</cp:coreProperties>
</file>